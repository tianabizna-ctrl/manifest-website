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5" r:id="rId17"/>
    <p:sldId id="256" r:id="rId7"/>
    <p:sldId id="266" r:id="rId18"/>
    <p:sldId id="257" r:id="rId9"/>
    <p:sldId id="258" r:id="rId10"/>
    <p:sldId id="259" r:id="rId11"/>
    <p:sldId id="260" r:id="rId12"/>
    <p:sldId id="261" r:id="rId13"/>
    <p:sldId id="262" r:id="rId14"/>
    <p:sldId id="263" r:id="rId15"/>
    <p:sldId id="264" r:id="rId16"/>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presentation of MANIFEST in Mahambo, Madagascar. MANIFEST exists to help people grow into the fullness of who God created them to be. This opening introduces the organisation and the Malagasy context in which our ministries serve.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Our ministry is active in four Malagasy locations: Antananarivo in Analamanga, Belobaka in Bongolava, Mahambo in Analanjirofo, and Toliara, also known as Tuléar. Each location responds to local needs through a combination of Gospel ministry, education, practical skills, and community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we close, we give all glory to God. This is not our story; it is His story. We plant, we water, we serve, and we pray, but God gives the growth. Thank you sincerely for listening, for your time, and for your encouragement. May everything MANIFEST does continue to honour God and bring hope, dignity, and opportunity to the communities we serve.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3.png"/><Relationship Id="rId7"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3.png"/><Relationship Id="rId7"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8.jpg"/><Relationship Id="rId4" Type="http://schemas.openxmlformats.org/officeDocument/2006/relationships/image" Target="../media/image12.jpg"/><Relationship Id="rId5" Type="http://schemas.openxmlformats.org/officeDocument/2006/relationships/image" Target="../media/image14.jp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0.jpg"/><Relationship Id="rId5" Type="http://schemas.openxmlformats.org/officeDocument/2006/relationships/image" Target="../media/image17.jpg"/><Relationship Id="rId6" Type="http://schemas.openxmlformats.org/officeDocument/2006/relationships/image" Target="../media/image3.png"/><Relationship Id="rId7"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df-page-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pic>
        <p:nvPicPr>
          <p:cNvPr id="12" name="Picture 11" descr="logo-watermark.png"/>
          <p:cNvPicPr>
            <a:picLocks noChangeAspect="1"/>
          </p:cNvPicPr>
          <p:nvPr/>
        </p:nvPicPr>
        <p:blipFill>
          <a:blip r:embed="rId4"/>
          <a:stretch>
            <a:fillRect/>
          </a:stretch>
        </p:blipFill>
        <p:spPr>
          <a:xfrm>
            <a:off x="11045952" y="128016"/>
            <a:ext cx="530352" cy="5120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nifest-locations.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2.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ANTANANARIVO  •  ANALAMANGA</a:t>
            </a:r>
          </a:p>
        </p:txBody>
      </p:sp>
      <p:sp>
        <p:nvSpPr>
          <p:cNvPr id="10" name="TextBox 9"/>
          <p:cNvSpPr txBox="1"/>
          <p:nvPr/>
        </p:nvSpPr>
        <p:spPr>
          <a:xfrm>
            <a:off x="2404872"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BELOBAKA  •  BONGOLAVA</a:t>
            </a:r>
          </a:p>
        </p:txBody>
      </p:sp>
      <p:sp>
        <p:nvSpPr>
          <p:cNvPr id="15" name="TextBox 14"/>
          <p:cNvSpPr txBox="1"/>
          <p:nvPr/>
        </p:nvSpPr>
        <p:spPr>
          <a:xfrm>
            <a:off x="7964423"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MAHAMBO  •  ANALANJIROFO</a:t>
            </a:r>
          </a:p>
        </p:txBody>
      </p:sp>
      <p:sp>
        <p:nvSpPr>
          <p:cNvPr id="20" name="TextBox 19"/>
          <p:cNvSpPr txBox="1"/>
          <p:nvPr/>
        </p:nvSpPr>
        <p:spPr>
          <a:xfrm>
            <a:off x="2404872"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TOLIARA (TULÉAR)  •  NID DE L’ESPOIR</a:t>
            </a:r>
          </a:p>
        </p:txBody>
      </p:sp>
      <p:sp>
        <p:nvSpPr>
          <p:cNvPr id="25" name="TextBox 24"/>
          <p:cNvSpPr txBox="1"/>
          <p:nvPr/>
        </p:nvSpPr>
        <p:spPr>
          <a:xfrm>
            <a:off x="7964423"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pic>
        <p:nvPicPr>
          <p:cNvPr id="29" name="Picture 28"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074920"/>
            <a:ext cx="3429000" cy="548640"/>
          </a:xfrm>
          <a:prstGeom prst="rect">
            <a:avLst/>
          </a:prstGeom>
          <a:noFill/>
        </p:spPr>
        <p:txBody>
          <a:bodyPr wrap="square" lIns="0" rIns="0" tIns="0" bIns="0" anchor="t">
            <a:spAutoFit/>
          </a:bodyPr>
          <a:lstStyle/>
          <a:p>
            <a:pPr algn="l">
              <a:lnSpc>
                <a:spcPct val="105000"/>
              </a:lnSpc>
            </a:pPr>
            <a:r>
              <a:rPr sz="123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05</a:t>
            </a:r>
          </a:p>
        </p:txBody>
      </p:sp>
      <p:pic>
        <p:nvPicPr>
          <p:cNvPr id="33" name="Picture 32"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08000"/>
              </a:lnSpc>
            </a:pPr>
            <a:r>
              <a:rPr sz="152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6000"/>
              </a:lnSpc>
            </a:pPr>
            <a:r>
              <a:rPr sz="145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pic>
        <p:nvPicPr>
          <p:cNvPr id="17" name="Picture 16"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07</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01</a:t>
            </a:r>
          </a:p>
        </p:txBody>
      </p:sp>
      <p:sp>
        <p:nvSpPr>
          <p:cNvPr id="7" name="TextBox 6"/>
          <p:cNvSpPr txBox="1"/>
          <p:nvPr/>
        </p:nvSpPr>
        <p:spPr>
          <a:xfrm>
            <a:off x="1097280"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The Gospel </a:t>
            </a:r>
            <a:r>
              <a:rPr sz="1180" b="0" i="0">
                <a:solidFill>
                  <a:srgbClr val="627080"/>
                </a:solidFill>
                <a:latin typeface="Aptos"/>
              </a:rPr>
              <a:t>is the foundation.</a:t>
            </a:r>
          </a:p>
        </p:txBody>
      </p:sp>
      <p:sp>
        <p:nvSpPr>
          <p:cNvPr id="8" name="Rounded Rectangle 7"/>
          <p:cNvSpPr/>
          <p:nvPr/>
        </p:nvSpPr>
        <p:spPr>
          <a:xfrm>
            <a:off x="3072384"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9544"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02</a:t>
            </a:r>
          </a:p>
        </p:txBody>
      </p:sp>
      <p:sp>
        <p:nvSpPr>
          <p:cNvPr id="10" name="TextBox 9"/>
          <p:cNvSpPr txBox="1"/>
          <p:nvPr/>
        </p:nvSpPr>
        <p:spPr>
          <a:xfrm>
            <a:off x="3547872"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Transformation </a:t>
            </a:r>
            <a:r>
              <a:rPr sz="1180" b="0" i="0">
                <a:solidFill>
                  <a:srgbClr val="627080"/>
                </a:solidFill>
                <a:latin typeface="Aptos"/>
              </a:rPr>
              <a:t>is the goal.</a:t>
            </a:r>
          </a:p>
        </p:txBody>
      </p:sp>
      <p:sp>
        <p:nvSpPr>
          <p:cNvPr id="11" name="Rounded Rectangle 10"/>
          <p:cNvSpPr/>
          <p:nvPr/>
        </p:nvSpPr>
        <p:spPr>
          <a:xfrm>
            <a:off x="5522976"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0136"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03</a:t>
            </a:r>
          </a:p>
        </p:txBody>
      </p:sp>
      <p:sp>
        <p:nvSpPr>
          <p:cNvPr id="13" name="TextBox 12"/>
          <p:cNvSpPr txBox="1"/>
          <p:nvPr/>
        </p:nvSpPr>
        <p:spPr>
          <a:xfrm>
            <a:off x="5998464"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Equipping people </a:t>
            </a:r>
            <a:r>
              <a:rPr sz="1180" b="0" i="0">
                <a:solidFill>
                  <a:srgbClr val="627080"/>
                </a:solidFill>
                <a:latin typeface="Aptos"/>
              </a:rPr>
              <a:t>is the pathway.</a:t>
            </a:r>
          </a:p>
        </p:txBody>
      </p:sp>
      <p:sp>
        <p:nvSpPr>
          <p:cNvPr id="14" name="Rounded Rectangle 13"/>
          <p:cNvSpPr/>
          <p:nvPr/>
        </p:nvSpPr>
        <p:spPr>
          <a:xfrm>
            <a:off x="621792" y="2679192"/>
            <a:ext cx="96012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71216"/>
            <a:ext cx="88696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FAITH</a:t>
            </a:r>
          </a:p>
        </p:txBody>
      </p:sp>
      <p:sp>
        <p:nvSpPr>
          <p:cNvPr id="16" name="TextBox 15"/>
          <p:cNvSpPr txBox="1"/>
          <p:nvPr/>
        </p:nvSpPr>
        <p:spPr>
          <a:xfrm>
            <a:off x="159105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01368" y="2679192"/>
            <a:ext cx="1133856"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7944" y="2871216"/>
            <a:ext cx="1060704"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CHARACTER</a:t>
            </a:r>
          </a:p>
        </p:txBody>
      </p:sp>
      <p:sp>
        <p:nvSpPr>
          <p:cNvPr id="19" name="TextBox 18"/>
          <p:cNvSpPr txBox="1"/>
          <p:nvPr/>
        </p:nvSpPr>
        <p:spPr>
          <a:xfrm>
            <a:off x="2944368"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154680" y="2679192"/>
            <a:ext cx="121615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91256" y="2871216"/>
            <a:ext cx="114300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KNOWLEDGE</a:t>
            </a:r>
          </a:p>
        </p:txBody>
      </p:sp>
      <p:sp>
        <p:nvSpPr>
          <p:cNvPr id="22" name="TextBox 21"/>
          <p:cNvSpPr txBox="1"/>
          <p:nvPr/>
        </p:nvSpPr>
        <p:spPr>
          <a:xfrm>
            <a:off x="437997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590288" y="2679192"/>
            <a:ext cx="8961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2871216"/>
            <a:ext cx="82296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SKILLS</a:t>
            </a:r>
          </a:p>
        </p:txBody>
      </p:sp>
      <p:sp>
        <p:nvSpPr>
          <p:cNvPr id="25" name="TextBox 24"/>
          <p:cNvSpPr txBox="1"/>
          <p:nvPr/>
        </p:nvSpPr>
        <p:spPr>
          <a:xfrm>
            <a:off x="5495544"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5705856" y="2679192"/>
            <a:ext cx="13533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871216"/>
            <a:ext cx="1280160" cy="173736"/>
          </a:xfrm>
          <a:prstGeom prst="rect">
            <a:avLst/>
          </a:prstGeom>
          <a:noFill/>
        </p:spPr>
        <p:txBody>
          <a:bodyPr wrap="square" lIns="0" rIns="0" tIns="0" bIns="0" anchor="t">
            <a:spAutoFit/>
          </a:bodyPr>
          <a:lstStyle/>
          <a:p>
            <a:pPr algn="ctr">
              <a:lnSpc>
                <a:spcPct val="100000"/>
              </a:lnSpc>
            </a:pPr>
            <a:r>
              <a:rPr sz="819" b="1" i="0">
                <a:solidFill>
                  <a:srgbClr val="FFFFFF"/>
                </a:solidFill>
                <a:latin typeface="Aptos"/>
              </a:rPr>
              <a:t>RESPONSIBILITY</a:t>
            </a:r>
          </a:p>
        </p:txBody>
      </p:sp>
      <p:sp>
        <p:nvSpPr>
          <p:cNvPr id="28" name="TextBox 27"/>
          <p:cNvSpPr txBox="1"/>
          <p:nvPr/>
        </p:nvSpPr>
        <p:spPr>
          <a:xfrm>
            <a:off x="7068312"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278624" y="2679192"/>
            <a:ext cx="91440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2871216"/>
            <a:ext cx="84124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IMPACT</a:t>
            </a:r>
          </a:p>
        </p:txBody>
      </p:sp>
      <p:cxnSp>
        <p:nvCxnSpPr>
          <p:cNvPr id="31" name="Connector 30"/>
          <p:cNvCxnSpPr/>
          <p:nvPr/>
        </p:nvCxnSpPr>
        <p:spPr>
          <a:xfrm>
            <a:off x="7735824" y="3282696"/>
            <a:ext cx="0" cy="420624"/>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79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PERSONAL</a:t>
            </a:r>
          </a:p>
        </p:txBody>
      </p:sp>
      <p:sp>
        <p:nvSpPr>
          <p:cNvPr id="34" name="Rounded Rectangle 33"/>
          <p:cNvSpPr/>
          <p:nvPr/>
        </p:nvSpPr>
        <p:spPr>
          <a:xfrm>
            <a:off x="249631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946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FAMILY</a:t>
            </a:r>
          </a:p>
        </p:txBody>
      </p:sp>
      <p:sp>
        <p:nvSpPr>
          <p:cNvPr id="36" name="Rounded Rectangle 35"/>
          <p:cNvSpPr/>
          <p:nvPr/>
        </p:nvSpPr>
        <p:spPr>
          <a:xfrm>
            <a:off x="437083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4398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COMMUNITY</a:t>
            </a:r>
          </a:p>
        </p:txBody>
      </p:sp>
      <p:sp>
        <p:nvSpPr>
          <p:cNvPr id="38" name="Rounded Rectangle 37"/>
          <p:cNvSpPr/>
          <p:nvPr/>
        </p:nvSpPr>
        <p:spPr>
          <a:xfrm>
            <a:off x="624535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1850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NATION</a:t>
            </a:r>
          </a:p>
        </p:txBody>
      </p:sp>
      <p:sp>
        <p:nvSpPr>
          <p:cNvPr id="40" name="TextBox 39"/>
          <p:cNvSpPr txBox="1"/>
          <p:nvPr/>
        </p:nvSpPr>
        <p:spPr>
          <a:xfrm>
            <a:off x="621792" y="4818888"/>
            <a:ext cx="7452360" cy="411480"/>
          </a:xfrm>
          <a:prstGeom prst="rect">
            <a:avLst/>
          </a:prstGeom>
          <a:noFill/>
        </p:spPr>
        <p:txBody>
          <a:bodyPr wrap="square" lIns="0" rIns="0" tIns="0" bIns="0" anchor="t">
            <a:spAutoFit/>
          </a:bodyPr>
          <a:lstStyle/>
          <a:p>
            <a:pPr algn="l">
              <a:lnSpc>
                <a:spcPct val="100000"/>
              </a:lnSpc>
            </a:pPr>
            <a:r>
              <a:rPr sz="1900" b="1" i="0">
                <a:solidFill>
                  <a:srgbClr val="102D4D"/>
                </a:solidFill>
                <a:latin typeface="Aptos Display"/>
              </a:rPr>
              <a:t>From transformed lives to transformed communities.</a:t>
            </a:r>
          </a:p>
        </p:txBody>
      </p:sp>
      <p:sp>
        <p:nvSpPr>
          <p:cNvPr id="41" name="TextBox 40"/>
          <p:cNvSpPr txBox="1"/>
          <p:nvPr/>
        </p:nvSpPr>
        <p:spPr>
          <a:xfrm>
            <a:off x="621792" y="5358384"/>
            <a:ext cx="7360920" cy="548640"/>
          </a:xfrm>
          <a:prstGeom prst="rect">
            <a:avLst/>
          </a:prstGeom>
          <a:noFill/>
        </p:spPr>
        <p:txBody>
          <a:bodyPr wrap="square" lIns="0" rIns="0" tIns="0" bIns="0" anchor="t">
            <a:spAutoFit/>
          </a:bodyPr>
          <a:lstStyle/>
          <a:p>
            <a:pPr algn="l">
              <a:lnSpc>
                <a:spcPct val="100000"/>
              </a:lnSpc>
            </a:pPr>
            <a:r>
              <a:rPr sz="1350" b="0" i="0">
                <a:solidFill>
                  <a:srgbClr val="627080"/>
                </a:solidFill>
                <a:latin typeface="Aptos"/>
              </a:rPr>
              <a:t>Faith shapes character. Knowledge becomes skill. Responsibility produces impact.</a:t>
            </a:r>
          </a:p>
        </p:txBody>
      </p:sp>
      <p:sp>
        <p:nvSpPr>
          <p:cNvPr id="42" name="Rounded Rectangle 41"/>
          <p:cNvSpPr/>
          <p:nvPr/>
        </p:nvSpPr>
        <p:spPr>
          <a:xfrm>
            <a:off x="8439912" y="1389888"/>
            <a:ext cx="3136392"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2785" r="22785"/>
          <a:stretch>
            <a:fillRect/>
          </a:stretch>
        </p:blipFill>
        <p:spPr>
          <a:xfrm>
            <a:off x="8439912" y="1389888"/>
            <a:ext cx="3136392" cy="3246120"/>
          </a:xfrm>
          <a:prstGeom prst="rect">
            <a:avLst/>
          </a:prstGeom>
        </p:spPr>
      </p:pic>
      <p:sp>
        <p:nvSpPr>
          <p:cNvPr id="44" name="TextBox 43"/>
          <p:cNvSpPr txBox="1"/>
          <p:nvPr/>
        </p:nvSpPr>
        <p:spPr>
          <a:xfrm>
            <a:off x="8723376" y="4919472"/>
            <a:ext cx="2569464" cy="713232"/>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TRANSFORMATION
MULTIPLIED</a:t>
            </a:r>
          </a:p>
        </p:txBody>
      </p:sp>
      <p:sp>
        <p:nvSpPr>
          <p:cNvPr id="45" name="TextBox 44"/>
          <p:cNvSpPr txBox="1"/>
          <p:nvPr/>
        </p:nvSpPr>
        <p:spPr>
          <a:xfrm>
            <a:off x="8705088" y="5687568"/>
            <a:ext cx="2606040" cy="274320"/>
          </a:xfrm>
          <a:prstGeom prst="rect">
            <a:avLst/>
          </a:prstGeom>
          <a:noFill/>
        </p:spPr>
        <p:txBody>
          <a:bodyPr wrap="square" lIns="0" rIns="0" tIns="0" bIns="0" anchor="t">
            <a:spAutoFit/>
          </a:bodyPr>
          <a:lstStyle/>
          <a:p>
            <a:pPr algn="ctr">
              <a:lnSpc>
                <a:spcPct val="100000"/>
              </a:lnSpc>
            </a:pPr>
            <a:r>
              <a:rPr sz="112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pic>
        <p:nvPicPr>
          <p:cNvPr id="48" name="Picture 47"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ovid-02.jpg"/>
          <p:cNvPicPr>
            <a:picLocks noChangeAspect="1"/>
          </p:cNvPicPr>
          <p:nvPr/>
        </p:nvPicPr>
        <p:blipFill>
          <a:blip r:embed="rId5"/>
          <a:srcRect l="19208" r="19208"/>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09</a:t>
            </a:r>
          </a:p>
        </p:txBody>
      </p:sp>
      <p:pic>
        <p:nvPicPr>
          <p:cNvPr id="30" name="Picture 29"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441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1</a:t>
            </a:r>
          </a:p>
        </p:txBody>
      </p:sp>
      <p:sp>
        <p:nvSpPr>
          <p:cNvPr id="8" name="TextBox 7"/>
          <p:cNvSpPr txBox="1"/>
          <p:nvPr/>
        </p:nvSpPr>
        <p:spPr>
          <a:xfrm>
            <a:off x="1261872" y="1316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SPORT — </a:t>
            </a:r>
            <a:r>
              <a:rPr sz="1140" b="0" i="0">
                <a:solidFill>
                  <a:srgbClr val="627080"/>
                </a:solidFill>
                <a:latin typeface="Aptos"/>
              </a:rPr>
              <a:t>Building teamwork, discipline, confidence, and leadership through football and other sports.</a:t>
            </a:r>
          </a:p>
        </p:txBody>
      </p:sp>
      <p:sp>
        <p:nvSpPr>
          <p:cNvPr id="9" name="Rounded Rectangle 8"/>
          <p:cNvSpPr/>
          <p:nvPr/>
        </p:nvSpPr>
        <p:spPr>
          <a:xfrm>
            <a:off x="621792" y="2029967"/>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1579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2</a:t>
            </a:r>
          </a:p>
        </p:txBody>
      </p:sp>
      <p:sp>
        <p:nvSpPr>
          <p:cNvPr id="11" name="TextBox 10"/>
          <p:cNvSpPr txBox="1"/>
          <p:nvPr/>
        </p:nvSpPr>
        <p:spPr>
          <a:xfrm>
            <a:off x="1261872" y="2002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LITERACY — </a:t>
            </a:r>
            <a:r>
              <a:rPr sz="1140" b="0" i="0">
                <a:solidFill>
                  <a:srgbClr val="627080"/>
                </a:solidFill>
                <a:latin typeface="Aptos"/>
              </a:rPr>
              <a:t>Helping people read, write, and gain confidence.</a:t>
            </a:r>
          </a:p>
        </p:txBody>
      </p:sp>
      <p:sp>
        <p:nvSpPr>
          <p:cNvPr id="12" name="Rounded Rectangle 11"/>
          <p:cNvSpPr/>
          <p:nvPr/>
        </p:nvSpPr>
        <p:spPr>
          <a:xfrm>
            <a:off x="621792" y="27157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437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3</a:t>
            </a:r>
          </a:p>
        </p:txBody>
      </p:sp>
      <p:sp>
        <p:nvSpPr>
          <p:cNvPr id="14" name="TextBox 13"/>
          <p:cNvSpPr txBox="1"/>
          <p:nvPr/>
        </p:nvSpPr>
        <p:spPr>
          <a:xfrm>
            <a:off x="1261872" y="26883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ACADEMIC SUPPORT — </a:t>
            </a:r>
            <a:r>
              <a:rPr sz="1140" b="0" i="0">
                <a:solidFill>
                  <a:srgbClr val="627080"/>
                </a:solidFill>
                <a:latin typeface="Aptos"/>
              </a:rPr>
              <a:t>Helping children and young people grow in their studies.</a:t>
            </a:r>
          </a:p>
        </p:txBody>
      </p:sp>
      <p:sp>
        <p:nvSpPr>
          <p:cNvPr id="15" name="Rounded Rectangle 14"/>
          <p:cNvSpPr/>
          <p:nvPr/>
        </p:nvSpPr>
        <p:spPr>
          <a:xfrm>
            <a:off x="621792" y="34015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5295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4</a:t>
            </a:r>
          </a:p>
        </p:txBody>
      </p:sp>
      <p:sp>
        <p:nvSpPr>
          <p:cNvPr id="17" name="TextBox 16"/>
          <p:cNvSpPr txBox="1"/>
          <p:nvPr/>
        </p:nvSpPr>
        <p:spPr>
          <a:xfrm>
            <a:off x="1261872" y="33741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LANGUAGES — </a:t>
            </a:r>
            <a:r>
              <a:rPr sz="1140" b="0" i="0">
                <a:solidFill>
                  <a:srgbClr val="627080"/>
                </a:solidFill>
                <a:latin typeface="Aptos"/>
              </a:rPr>
              <a:t>Opening access to communication and new opportunities.</a:t>
            </a:r>
          </a:p>
        </p:txBody>
      </p:sp>
      <p:sp>
        <p:nvSpPr>
          <p:cNvPr id="18" name="Rounded Rectangle 17"/>
          <p:cNvSpPr/>
          <p:nvPr/>
        </p:nvSpPr>
        <p:spPr>
          <a:xfrm>
            <a:off x="621792" y="40873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153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5</a:t>
            </a:r>
          </a:p>
        </p:txBody>
      </p:sp>
      <p:sp>
        <p:nvSpPr>
          <p:cNvPr id="20" name="TextBox 19"/>
          <p:cNvSpPr txBox="1"/>
          <p:nvPr/>
        </p:nvSpPr>
        <p:spPr>
          <a:xfrm>
            <a:off x="1261872" y="4059935"/>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DIGITAL &amp; CODING — </a:t>
            </a:r>
            <a:r>
              <a:rPr sz="1140" b="0" i="0">
                <a:solidFill>
                  <a:srgbClr val="627080"/>
                </a:solidFill>
                <a:latin typeface="Aptos"/>
              </a:rPr>
              <a:t>Preparing young people for a changing world through digital and technical skills.</a:t>
            </a:r>
          </a:p>
        </p:txBody>
      </p:sp>
      <p:sp>
        <p:nvSpPr>
          <p:cNvPr id="21" name="Rounded Rectangle 20"/>
          <p:cNvSpPr/>
          <p:nvPr/>
        </p:nvSpPr>
        <p:spPr>
          <a:xfrm>
            <a:off x="621792" y="47731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901183"/>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6</a:t>
            </a:r>
          </a:p>
        </p:txBody>
      </p:sp>
      <p:sp>
        <p:nvSpPr>
          <p:cNvPr id="23" name="TextBox 22"/>
          <p:cNvSpPr txBox="1"/>
          <p:nvPr/>
        </p:nvSpPr>
        <p:spPr>
          <a:xfrm>
            <a:off x="1261872" y="4745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TECHNOLOGY &amp; ELECTRONICS — </a:t>
            </a:r>
            <a:r>
              <a:rPr sz="1140" b="0" i="0">
                <a:solidFill>
                  <a:srgbClr val="627080"/>
                </a:solidFill>
                <a:latin typeface="Aptos"/>
              </a:rPr>
              <a:t>Developing practical and future-oriented skills.</a:t>
            </a:r>
          </a:p>
        </p:txBody>
      </p:sp>
      <p:sp>
        <p:nvSpPr>
          <p:cNvPr id="24" name="Rounded Rectangle 23"/>
          <p:cNvSpPr/>
          <p:nvPr/>
        </p:nvSpPr>
        <p:spPr>
          <a:xfrm>
            <a:off x="621792" y="54589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5869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7</a:t>
            </a:r>
          </a:p>
        </p:txBody>
      </p:sp>
      <p:sp>
        <p:nvSpPr>
          <p:cNvPr id="26" name="TextBox 25"/>
          <p:cNvSpPr txBox="1"/>
          <p:nvPr/>
        </p:nvSpPr>
        <p:spPr>
          <a:xfrm>
            <a:off x="1261872" y="5431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COOKING &amp; PASTRY — </a:t>
            </a:r>
            <a:r>
              <a:rPr sz="1140" b="0" i="0">
                <a:solidFill>
                  <a:srgbClr val="627080"/>
                </a:solidFill>
                <a:latin typeface="Aptos"/>
              </a:rPr>
              <a:t>Turning skills into creativity and potential income.</a:t>
            </a:r>
          </a:p>
        </p:txBody>
      </p:sp>
      <p:pic>
        <p:nvPicPr>
          <p:cNvPr id="27" name="Picture 26"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28" name="Picture 27"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29" name="Picture 28"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0" name="Picture 29"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1" name="Rounded Rectangle 30"/>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33" name="TextBox 32"/>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4" name="TextBox 33"/>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10</a:t>
            </a:r>
          </a:p>
        </p:txBody>
      </p:sp>
      <p:pic>
        <p:nvPicPr>
          <p:cNvPr id="35" name="Picture 34"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11</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background.jp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58368" y="475488"/>
            <a:ext cx="4206240" cy="228600"/>
          </a:xfrm>
          <a:prstGeom prst="rect">
            <a:avLst/>
          </a:prstGeom>
          <a:noFill/>
        </p:spPr>
        <p:txBody>
          <a:bodyPr wrap="square" lIns="0" rIns="0" tIns="0" bIns="0" anchor="t">
            <a:spAutoFit/>
          </a:bodyPr>
          <a:lstStyle/>
          <a:p>
            <a:pPr algn="l">
              <a:lnSpc>
                <a:spcPct val="100000"/>
              </a:lnSpc>
            </a:pPr>
            <a:r>
              <a:rPr sz="950" b="1" i="0">
                <a:solidFill>
                  <a:srgbClr val="F0CC7A"/>
                </a:solidFill>
                <a:latin typeface="Aptos"/>
              </a:rPr>
              <a:t>CLOSING  •  WITH GRATITUDE</a:t>
            </a:r>
          </a:p>
        </p:txBody>
      </p:sp>
      <p:sp>
        <p:nvSpPr>
          <p:cNvPr id="4" name="TextBox 3"/>
          <p:cNvSpPr txBox="1"/>
          <p:nvPr/>
        </p:nvSpPr>
        <p:spPr>
          <a:xfrm>
            <a:off x="640080" y="868680"/>
            <a:ext cx="6080760" cy="621792"/>
          </a:xfrm>
          <a:prstGeom prst="rect">
            <a:avLst/>
          </a:prstGeom>
          <a:noFill/>
        </p:spPr>
        <p:txBody>
          <a:bodyPr wrap="square" lIns="0" rIns="0" tIns="0" bIns="0" anchor="t">
            <a:spAutoFit/>
          </a:bodyPr>
          <a:lstStyle/>
          <a:p>
            <a:pPr algn="l">
              <a:lnSpc>
                <a:spcPct val="100000"/>
              </a:lnSpc>
            </a:pPr>
            <a:r>
              <a:rPr sz="3500" b="1" i="0">
                <a:solidFill>
                  <a:srgbClr val="FFFFFF"/>
                </a:solidFill>
                <a:latin typeface="Aptos Display"/>
              </a:rPr>
              <a:t>SOLI DEO GLORIA</a:t>
            </a:r>
          </a:p>
        </p:txBody>
      </p:sp>
      <p:sp>
        <p:nvSpPr>
          <p:cNvPr id="5" name="Rectangle 4"/>
          <p:cNvSpPr/>
          <p:nvPr/>
        </p:nvSpPr>
        <p:spPr>
          <a:xfrm>
            <a:off x="658368" y="1600200"/>
            <a:ext cx="73152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874519"/>
            <a:ext cx="585216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TO GOD ALONE BE THE GLORY</a:t>
            </a:r>
          </a:p>
        </p:txBody>
      </p:sp>
      <p:sp>
        <p:nvSpPr>
          <p:cNvPr id="7" name="TextBox 6"/>
          <p:cNvSpPr txBox="1"/>
          <p:nvPr/>
        </p:nvSpPr>
        <p:spPr>
          <a:xfrm>
            <a:off x="658368" y="2468880"/>
            <a:ext cx="5897880" cy="530352"/>
          </a:xfrm>
          <a:prstGeom prst="rect">
            <a:avLst/>
          </a:prstGeom>
          <a:noFill/>
        </p:spPr>
        <p:txBody>
          <a:bodyPr wrap="square" lIns="0" rIns="0" tIns="0" bIns="0" anchor="t">
            <a:spAutoFit/>
          </a:bodyPr>
          <a:lstStyle/>
          <a:p>
            <a:pPr algn="l">
              <a:lnSpc>
                <a:spcPct val="100000"/>
              </a:lnSpc>
            </a:pPr>
            <a:r>
              <a:rPr sz="2100" b="1" i="0">
                <a:solidFill>
                  <a:srgbClr val="FFFFFF"/>
                </a:solidFill>
                <a:latin typeface="Aptos Display"/>
              </a:rPr>
              <a:t>This is not our story. It is His story.</a:t>
            </a:r>
          </a:p>
        </p:txBody>
      </p:sp>
      <p:sp>
        <p:nvSpPr>
          <p:cNvPr id="8" name="TextBox 7"/>
          <p:cNvSpPr txBox="1"/>
          <p:nvPr/>
        </p:nvSpPr>
        <p:spPr>
          <a:xfrm>
            <a:off x="658368" y="3246120"/>
            <a:ext cx="5760720" cy="841248"/>
          </a:xfrm>
          <a:prstGeom prst="rect">
            <a:avLst/>
          </a:prstGeom>
          <a:noFill/>
        </p:spPr>
        <p:txBody>
          <a:bodyPr wrap="square" lIns="0" rIns="0" tIns="0" bIns="0" anchor="t">
            <a:spAutoFit/>
          </a:bodyPr>
          <a:lstStyle/>
          <a:p>
            <a:pPr algn="l">
              <a:lnSpc>
                <a:spcPct val="110000"/>
              </a:lnSpc>
            </a:pPr>
            <a:r>
              <a:rPr sz="1600" b="0" i="0">
                <a:solidFill>
                  <a:srgbClr val="D8E1E9"/>
                </a:solidFill>
                <a:latin typeface="Aptos"/>
              </a:rPr>
              <a:t>We plant. We water. We serve. We pray.
But God gives the growth.</a:t>
            </a:r>
          </a:p>
        </p:txBody>
      </p:sp>
      <p:sp>
        <p:nvSpPr>
          <p:cNvPr id="9" name="Rounded Rectangle 8"/>
          <p:cNvSpPr/>
          <p:nvPr/>
        </p:nvSpPr>
        <p:spPr>
          <a:xfrm>
            <a:off x="658368" y="4416552"/>
            <a:ext cx="5797296" cy="969264"/>
          </a:xfrm>
          <a:prstGeom prst="roundRect">
            <a:avLst/>
          </a:prstGeom>
          <a:solidFill>
            <a:srgbClr val="102D4D"/>
          </a:solidFill>
          <a:ln w="15240">
            <a:solidFill>
              <a:srgbClr val="D7A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608576"/>
            <a:ext cx="5212080" cy="283464"/>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THANK YOU FOR LISTENING</a:t>
            </a:r>
          </a:p>
        </p:txBody>
      </p:sp>
      <p:sp>
        <p:nvSpPr>
          <p:cNvPr id="11" name="TextBox 10"/>
          <p:cNvSpPr txBox="1"/>
          <p:nvPr/>
        </p:nvSpPr>
        <p:spPr>
          <a:xfrm>
            <a:off x="960120" y="5020056"/>
            <a:ext cx="5212080" cy="228600"/>
          </a:xfrm>
          <a:prstGeom prst="rect">
            <a:avLst/>
          </a:prstGeom>
          <a:noFill/>
        </p:spPr>
        <p:txBody>
          <a:bodyPr wrap="square" lIns="0" rIns="0" tIns="0" bIns="0" anchor="t">
            <a:spAutoFit/>
          </a:bodyPr>
          <a:lstStyle/>
          <a:p>
            <a:pPr algn="ctr">
              <a:lnSpc>
                <a:spcPct val="100000"/>
              </a:lnSpc>
            </a:pPr>
            <a:r>
              <a:rPr sz="1130" b="0" i="0">
                <a:solidFill>
                  <a:srgbClr val="FFFFFF"/>
                </a:solidFill>
                <a:latin typeface="Aptos"/>
              </a:rPr>
              <a:t>Thank you for your time, your prayers, and your encouragement.</a:t>
            </a:r>
          </a:p>
        </p:txBody>
      </p:sp>
      <p:sp>
        <p:nvSpPr>
          <p:cNvPr id="12" name="Rounded Rectangle 11"/>
          <p:cNvSpPr/>
          <p:nvPr/>
        </p:nvSpPr>
        <p:spPr>
          <a:xfrm>
            <a:off x="7059168" y="1097280"/>
            <a:ext cx="4572000" cy="306324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li-deo-gloria-source.png"/>
          <p:cNvPicPr>
            <a:picLocks noChangeAspect="1"/>
          </p:cNvPicPr>
          <p:nvPr/>
        </p:nvPicPr>
        <p:blipFill>
          <a:blip r:embed="rId3"/>
          <a:stretch>
            <a:fillRect/>
          </a:stretch>
        </p:blipFill>
        <p:spPr>
          <a:xfrm>
            <a:off x="7150608" y="1170432"/>
            <a:ext cx="4389120" cy="2779776"/>
          </a:xfrm>
          <a:prstGeom prst="rect">
            <a:avLst/>
          </a:prstGeom>
        </p:spPr>
      </p:pic>
      <p:sp>
        <p:nvSpPr>
          <p:cNvPr id="14" name="TextBox 13"/>
          <p:cNvSpPr txBox="1"/>
          <p:nvPr/>
        </p:nvSpPr>
        <p:spPr>
          <a:xfrm>
            <a:off x="7150608" y="4343400"/>
            <a:ext cx="4389120" cy="384048"/>
          </a:xfrm>
          <a:prstGeom prst="rect">
            <a:avLst/>
          </a:prstGeom>
          <a:noFill/>
        </p:spPr>
        <p:txBody>
          <a:bodyPr wrap="square" lIns="0" rIns="0" tIns="0" bIns="0" anchor="t">
            <a:spAutoFit/>
          </a:bodyPr>
          <a:lstStyle/>
          <a:p>
            <a:pPr algn="ctr">
              <a:lnSpc>
                <a:spcPct val="100000"/>
              </a:lnSpc>
            </a:pPr>
            <a:r>
              <a:rPr sz="1800" b="1" i="0">
                <a:solidFill>
                  <a:srgbClr val="F0CC7A"/>
                </a:solidFill>
                <a:latin typeface="Aptos Display"/>
              </a:rPr>
              <a:t>All glory belongs to God.</a:t>
            </a:r>
          </a:p>
        </p:txBody>
      </p:sp>
      <p:sp>
        <p:nvSpPr>
          <p:cNvPr id="15" name="TextBox 14"/>
          <p:cNvSpPr txBox="1"/>
          <p:nvPr/>
        </p:nvSpPr>
        <p:spPr>
          <a:xfrm>
            <a:off x="7269480" y="4846320"/>
            <a:ext cx="4151376" cy="475488"/>
          </a:xfrm>
          <a:prstGeom prst="rect">
            <a:avLst/>
          </a:prstGeom>
          <a:noFill/>
        </p:spPr>
        <p:txBody>
          <a:bodyPr wrap="square" lIns="0" rIns="0" tIns="0" bIns="0" anchor="t">
            <a:spAutoFit/>
          </a:bodyPr>
          <a:lstStyle/>
          <a:p>
            <a:pPr algn="ctr">
              <a:lnSpc>
                <a:spcPct val="100000"/>
              </a:lnSpc>
            </a:pPr>
            <a:r>
              <a:rPr sz="1220" b="0" i="0">
                <a:solidFill>
                  <a:srgbClr val="FFFFFF"/>
                </a:solidFill>
                <a:latin typeface="Aptos"/>
              </a:rPr>
              <a:t>Thank you for sharing this moment with MANIFEST.</a:t>
            </a:r>
          </a:p>
        </p:txBody>
      </p:sp>
      <p:sp>
        <p:nvSpPr>
          <p:cNvPr id="16" name="TextBox 15"/>
          <p:cNvSpPr txBox="1"/>
          <p:nvPr/>
        </p:nvSpPr>
        <p:spPr>
          <a:xfrm>
            <a:off x="658368" y="5852160"/>
            <a:ext cx="10881360" cy="310896"/>
          </a:xfrm>
          <a:prstGeom prst="rect">
            <a:avLst/>
          </a:prstGeom>
          <a:noFill/>
        </p:spPr>
        <p:txBody>
          <a:bodyPr wrap="square" lIns="0" rIns="0" tIns="0" bIns="0" anchor="t">
            <a:spAutoFit/>
          </a:bodyPr>
          <a:lstStyle/>
          <a:p>
            <a:pPr algn="ctr">
              <a:lnSpc>
                <a:spcPct val="100000"/>
              </a:lnSpc>
            </a:pPr>
            <a:r>
              <a:rPr sz="1250" b="0" i="1">
                <a:solidFill>
                  <a:srgbClr val="FFFFFF"/>
                </a:solidFill>
                <a:latin typeface="Aptos"/>
              </a:rPr>
              <a:t>“Not to us, LORD, not to us, but to Your name be the glory.”  — Psalm 115:1</a:t>
            </a:r>
          </a:p>
        </p:txBody>
      </p:sp>
      <p:sp>
        <p:nvSpPr>
          <p:cNvPr id="17" name="TextBox 1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18" name="TextBox 1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12</a:t>
            </a:r>
          </a:p>
        </p:txBody>
      </p:sp>
      <p:pic>
        <p:nvPicPr>
          <p:cNvPr id="19" name="Picture 18" descr="image.png"/>
          <p:cNvPicPr>
            <a:picLocks noChangeAspect="1"/>
          </p:cNvPicPr>
          <p:nvPr/>
        </p:nvPicPr>
        <p:blipFill>
          <a:blip r:embed="rId4"/>
          <a:stretch>
            <a:fillRect/>
          </a:stretch>
        </p:blipFill>
        <p:spPr>
          <a:xfrm>
            <a:off x="11045952" y="128016"/>
            <a:ext cx="530352" cy="5120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Mahambo, Madagascar — Ministry Presentation</dc:title>
  <dc:subject>MANIFEST ministry presentation with locations overview</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