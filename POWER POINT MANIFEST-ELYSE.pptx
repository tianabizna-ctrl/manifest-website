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17"/>
    <p:sldId id="256" r:id="rId7"/>
    <p:sldId id="266" r:id="rId18"/>
    <p:sldId id="257" r:id="rId9"/>
    <p:sldId id="258" r:id="rId10"/>
    <p:sldId id="259" r:id="rId11"/>
    <p:sldId id="260" r:id="rId12"/>
    <p:sldId id="261" r:id="rId13"/>
    <p:sldId id="262" r:id="rId14"/>
    <p:sldId id="263" r:id="rId15"/>
    <p:sldId id="264" r:id="rId16"/>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xml"/><Relationship Id="rId18" Type="http://schemas.openxmlformats.org/officeDocument/2006/relationships/slide" Target="slides/slide3.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thank you for the opportunity to introduce MANIFEST. Our name expresses our desire to see people become who God created them to be. From Madagascar, we serve children, young people, families, and communities through the Gospel, education, practical skills, and leadership development. Today I will briefly share our vision, the realities we respond to, and how transformation can multiply from one life into an entire community.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MANIFEST is a missionary association founded in 2023 and inspired by John 10:10: Jesus came so that people may have abundant life. Our ministries are rooted in four locations. In Antananarivo, we offer English classes and discipleship. In Belobaka, we combine literacy, English, children’s ministry, sport, music, and outreach. In Mahambo, we add football, digital skills, coding, electronics, identity sessions, and graduations. In Toliara, Nid de l’Espoir supports out-of-school children through accelerated learning, meals, and holistic care.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name MANIFEST carries our identity and maps a journey from identity to purpose. MAN reminds us that every person is created in God’s image. INTO describes a journey of becoming; transformation takes time and relationship. THE FULLEST points toward God’s purpose for each life. ESTEEM means knowing our God-given value and dignity. Together, MANIFEST describes people becoming who God created them to be through the transforming power of the Gospel. This is why every programme begins with the person—not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vision is to see marginalised Malagasy children, young people, and families transformed by the Gospel of Jesus Christ. We want to see them grow into influential leaders who know God, live abundant lives, and bless their communities and nation. Our mission is holistic: we educate, equip, and empower. We combine foundational education, practical skills, and spiritual training so that people can grow in Christ, steward their potential, live with dignity, and become catalysts for a brighter future across Bongolava, Analanjirofo, Analamanga, and Toliara.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community carries real challenges: limited opportunities, interrupted education, unemployment, economic hardship, young people searching for direction, and families carrying heavy burdens. But MANIFEST does not begin by defining people through their problems. Behind every challenge is a person with dignity, a person with potential, and a person who is loved by God. Our response therefore combines compassion with practical opportunity, always recognising the worth and capacity that God has placed within each person.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vision becomes action through a clear pathway. The Gospel is the foundation, transformation is the goal, and equipping people is the pathway. Faith shapes character. Knowledge becomes practical skill. Skill grows into responsibility, and responsibility produces impact. The transformation begins personally, strengthens families, reaches communities, and can influence the nation. We are not only delivering activities; we are helping people become equipped and responsible leaders who can serve others and multiply what they have received.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invest in people at different stages of life. Children grow in faith, learning, and confidence. Young people discover identity, purpose, and direction. Families grow in faith, responsibility, and resilience. People in need find dignity, hope, and new opportunities. The programmes may look different for each group, but the conviction remains the same: every person matters, and every life has potential. Long-term transformation grows when people are supported according to their season and encouraged to support others.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 is one of our strongest doors to opportunity. Sport builds teamwork, discipline, confidence, and leadership. Literacy helps people read, write, and participate with confidence. Academic support strengthens children and young people in their studies. Languages open communication and opportunity. Digital skills, coding, technology, and electronics prepare young people for a changing world. Cooking and pastry-making can turn creativity into practical income. Together these activities reflect our approach: teach, equip, and empower people with skills that serve both life and community.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dream is not simply to run programmes. We want transformed people to become channels of transformation: a young person who leads, a family that strengthens others, a skilled person who creates opportunities, a servant of God who is renewed and equipped, and a community that becomes a blessing to others. This is transformation received and transformation multiplied. With God’s help and the partnership of people who share this vision, we will continue to teach, equip, and empower.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this presentation of MANIFEST in Mahambo, Madagascar. MANIFEST exists to help people grow into the fullness of who God created them to be. This opening introduces the organisation and the Malagasy context in which our ministries serve.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MANIFEST is a missionary association founded in 2023 and inspired by John 10:10. Our ministry is active in four Malagasy locations: Antananarivo in Analamanga, Belobaka in Bongolava, Mahambo in Analanjirofo, and Toliara, also known as Tuléar. Each location responds to local needs through a combination of Gospel ministry, education, practical skills, and community support.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close, we give all glory to God. This is not our story; it is His story. We plant, we water, we serve, and we pray, but God gives the growth. Thank you sincerely for listening, for your time, for your prayers, and for your encouragement. May everything MANIFEST does continue to honour God and bring hope, dignity, and opportunity to the communities we serve.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3.png"/><Relationship Id="rId4" Type="http://schemas.openxmlformats.org/officeDocument/2006/relationships/notesSlide" Target="../notesSlides/notesSlide3.xml"/><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3.png"/><Relationship Id="rId7"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8.jpg"/><Relationship Id="rId4" Type="http://schemas.openxmlformats.org/officeDocument/2006/relationships/image" Target="../media/image12.jpg"/><Relationship Id="rId5" Type="http://schemas.openxmlformats.org/officeDocument/2006/relationships/image" Target="../media/image14.jpg"/><Relationship Id="rId6" Type="http://schemas.openxmlformats.org/officeDocument/2006/relationships/image" Target="../media/image3.png"/><Relationship Id="rId7"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0.jpg"/><Relationship Id="rId5" Type="http://schemas.openxmlformats.org/officeDocument/2006/relationships/image" Target="../media/image17.jpg"/><Relationship Id="rId6" Type="http://schemas.openxmlformats.org/officeDocument/2006/relationships/image" Target="../media/image3.png"/><Relationship Id="rId7"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3.png"/><Relationship Id="rId4"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df-page-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jpg"/>
          <p:cNvPicPr>
            <a:picLocks noChangeAspect="1"/>
          </p:cNvPicPr>
          <p:nvPr/>
        </p:nvPicPr>
        <p:blipFill>
          <a:blip r:embed="rId2"/>
          <a:srcRect l="0" r="0"/>
          <a:stretch>
            <a:fillRect/>
          </a:stretch>
        </p:blipFill>
        <p:spPr>
          <a:xfrm>
            <a:off x="0" y="0"/>
            <a:ext cx="12191999" cy="6858000"/>
          </a:xfrm>
          <a:prstGeom prst="rect">
            <a:avLst/>
          </a:prstGeom>
        </p:spPr>
      </p:pic>
      <p:sp>
        <p:nvSpPr>
          <p:cNvPr id="3" name="Rounded Rectangle 2"/>
          <p:cNvSpPr/>
          <p:nvPr/>
        </p:nvSpPr>
        <p:spPr>
          <a:xfrm>
            <a:off x="612648" y="438912"/>
            <a:ext cx="1078992" cy="10789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3"/>
          <a:srcRect l="1749" r="1749"/>
          <a:stretch>
            <a:fillRect/>
          </a:stretch>
        </p:blipFill>
        <p:spPr>
          <a:xfrm>
            <a:off x="713232" y="521207"/>
            <a:ext cx="877824" cy="877824"/>
          </a:xfrm>
          <a:prstGeom prst="rect">
            <a:avLst/>
          </a:prstGeom>
        </p:spPr>
      </p:pic>
      <p:sp>
        <p:nvSpPr>
          <p:cNvPr id="5" name="TextBox 4"/>
          <p:cNvSpPr txBox="1"/>
          <p:nvPr/>
        </p:nvSpPr>
        <p:spPr>
          <a:xfrm>
            <a:off x="658368" y="1874519"/>
            <a:ext cx="4389120" cy="246888"/>
          </a:xfrm>
          <a:prstGeom prst="rect">
            <a:avLst/>
          </a:prstGeom>
          <a:noFill/>
        </p:spPr>
        <p:txBody>
          <a:bodyPr wrap="square" lIns="0" rIns="0" tIns="0" bIns="0" anchor="t">
            <a:spAutoFit/>
          </a:bodyPr>
          <a:lstStyle/>
          <a:p>
            <a:pPr algn="l">
              <a:lnSpc>
                <a:spcPct val="100000"/>
              </a:lnSpc>
            </a:pPr>
            <a:r>
              <a:rPr sz="1000" b="1" i="0">
                <a:solidFill>
                  <a:srgbClr val="F0CC7A"/>
                </a:solidFill>
                <a:latin typeface="Aptos"/>
              </a:rPr>
              <a:t>MINISTRY PRESENTATION  •  KENYA</a:t>
            </a:r>
          </a:p>
        </p:txBody>
      </p:sp>
      <p:sp>
        <p:nvSpPr>
          <p:cNvPr id="6" name="TextBox 5"/>
          <p:cNvSpPr txBox="1"/>
          <p:nvPr/>
        </p:nvSpPr>
        <p:spPr>
          <a:xfrm>
            <a:off x="621792" y="2212848"/>
            <a:ext cx="6492240" cy="685800"/>
          </a:xfrm>
          <a:prstGeom prst="rect">
            <a:avLst/>
          </a:prstGeom>
          <a:noFill/>
        </p:spPr>
        <p:txBody>
          <a:bodyPr wrap="square" lIns="0" rIns="0" tIns="0" bIns="0" anchor="t">
            <a:spAutoFit/>
          </a:bodyPr>
          <a:lstStyle/>
          <a:p>
            <a:pPr algn="l">
              <a:lnSpc>
                <a:spcPct val="100000"/>
              </a:lnSpc>
            </a:pPr>
            <a:r>
              <a:rPr sz="4500" b="1" i="0">
                <a:solidFill>
                  <a:srgbClr val="FFFFFF"/>
                </a:solidFill>
                <a:latin typeface="Aptos Display"/>
              </a:rPr>
              <a:t>MANIFEST</a:t>
            </a:r>
          </a:p>
        </p:txBody>
      </p:sp>
      <p:sp>
        <p:nvSpPr>
          <p:cNvPr id="7" name="TextBox 6"/>
          <p:cNvSpPr txBox="1"/>
          <p:nvPr/>
        </p:nvSpPr>
        <p:spPr>
          <a:xfrm>
            <a:off x="658368" y="2999232"/>
            <a:ext cx="7680960" cy="566928"/>
          </a:xfrm>
          <a:prstGeom prst="rect">
            <a:avLst/>
          </a:prstGeom>
          <a:noFill/>
        </p:spPr>
        <p:txBody>
          <a:bodyPr wrap="square" lIns="0" rIns="0" tIns="0" bIns="0" anchor="t">
            <a:spAutoFit/>
          </a:bodyPr>
          <a:lstStyle/>
          <a:p>
            <a:pPr algn="l">
              <a:lnSpc>
                <a:spcPct val="100000"/>
              </a:lnSpc>
            </a:pPr>
            <a:r>
              <a:rPr sz="2900" b="0" i="0">
                <a:solidFill>
                  <a:srgbClr val="FFFFFF"/>
                </a:solidFill>
                <a:latin typeface="Aptos Display"/>
              </a:rPr>
              <a:t>Teach. Equip. Empower.</a:t>
            </a:r>
          </a:p>
        </p:txBody>
      </p:sp>
      <p:sp>
        <p:nvSpPr>
          <p:cNvPr id="8" name="Rectangle 7"/>
          <p:cNvSpPr/>
          <p:nvPr/>
        </p:nvSpPr>
        <p:spPr>
          <a:xfrm>
            <a:off x="658368" y="3730752"/>
            <a:ext cx="685800" cy="41148"/>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986784"/>
            <a:ext cx="5852160" cy="960120"/>
          </a:xfrm>
          <a:prstGeom prst="rect">
            <a:avLst/>
          </a:prstGeom>
          <a:noFill/>
        </p:spPr>
        <p:txBody>
          <a:bodyPr wrap="square" lIns="0" rIns="0" tIns="0" bIns="0" anchor="t">
            <a:spAutoFit/>
          </a:bodyPr>
          <a:lstStyle/>
          <a:p>
            <a:pPr algn="l">
              <a:lnSpc>
                <a:spcPct val="112000"/>
              </a:lnSpc>
            </a:pPr>
            <a:r>
              <a:rPr sz="1700" b="0" i="0">
                <a:solidFill>
                  <a:srgbClr val="FFFFFF"/>
                </a:solidFill>
                <a:latin typeface="Aptos"/>
              </a:rPr>
              <a:t>Holistic transformation through the Gospel,
education and practical skills.</a:t>
            </a:r>
          </a:p>
        </p:txBody>
      </p:sp>
      <p:sp>
        <p:nvSpPr>
          <p:cNvPr id="10" name="TextBox 9"/>
          <p:cNvSpPr txBox="1"/>
          <p:nvPr/>
        </p:nvSpPr>
        <p:spPr>
          <a:xfrm>
            <a:off x="658368" y="6016752"/>
            <a:ext cx="4023360" cy="256032"/>
          </a:xfrm>
          <a:prstGeom prst="rect">
            <a:avLst/>
          </a:prstGeom>
          <a:noFill/>
        </p:spPr>
        <p:txBody>
          <a:bodyPr wrap="square" lIns="0" rIns="0" tIns="0" bIns="0" anchor="t">
            <a:spAutoFit/>
          </a:bodyPr>
          <a:lstStyle/>
          <a:p>
            <a:pPr algn="l">
              <a:lnSpc>
                <a:spcPct val="100000"/>
              </a:lnSpc>
            </a:pPr>
            <a:r>
              <a:rPr sz="1000" b="1" i="0">
                <a:solidFill>
                  <a:srgbClr val="F0CC7A"/>
                </a:solidFill>
                <a:latin typeface="Aptos"/>
              </a:rPr>
              <a:t>MAHAMBO  •  MADAGASCAR</a:t>
            </a:r>
          </a:p>
        </p:txBody>
      </p:sp>
      <p:sp>
        <p:nvSpPr>
          <p:cNvPr id="11" name="TextBox 10"/>
          <p:cNvSpPr txBox="1"/>
          <p:nvPr/>
        </p:nvSpPr>
        <p:spPr>
          <a:xfrm>
            <a:off x="8732520" y="6016752"/>
            <a:ext cx="2724912" cy="256032"/>
          </a:xfrm>
          <a:prstGeom prst="rect">
            <a:avLst/>
          </a:prstGeom>
          <a:noFill/>
        </p:spPr>
        <p:txBody>
          <a:bodyPr wrap="square" lIns="0" rIns="0" tIns="0" bIns="0" anchor="t">
            <a:spAutoFit/>
          </a:bodyPr>
          <a:lstStyle/>
          <a:p>
            <a:pPr algn="r">
              <a:lnSpc>
                <a:spcPct val="100000"/>
              </a:lnSpc>
            </a:pPr>
            <a:r>
              <a:rPr sz="1000" b="0" i="0">
                <a:solidFill>
                  <a:srgbClr val="FFFFFF"/>
                </a:solidFill>
                <a:latin typeface="Aptos"/>
              </a:rPr>
              <a:t>Presented by Elysé</a:t>
            </a:r>
          </a:p>
        </p:txBody>
      </p:sp>
      <p:pic>
        <p:nvPicPr>
          <p:cNvPr id="12" name="Picture 11" descr="logo-watermark.png"/>
          <p:cNvPicPr>
            <a:picLocks noChangeAspect="1"/>
          </p:cNvPicPr>
          <p:nvPr/>
        </p:nvPicPr>
        <p:blipFill>
          <a:blip r:embed="rId4"/>
          <a:stretch>
            <a:fillRect/>
          </a:stretch>
        </p:blipFill>
        <p:spPr>
          <a:xfrm>
            <a:off x="11045952" y="128016"/>
            <a:ext cx="530352" cy="51206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nifest-locations.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DF9"/>
        </a:solidFill>
        <a:effectLst/>
      </p:bgPr>
    </p:bg>
    <p:spTree>
      <p:nvGrpSpPr>
        <p:cNvPr id="1" name=""/>
        <p:cNvGrpSpPr/>
        <p:nvPr/>
      </p:nvGrpSpPr>
      <p:grpSpPr/>
      <p:sp>
        <p:nvSpPr>
          <p:cNvPr id="2" name="TextBox 1"/>
          <p:cNvSpPr txBox="1"/>
          <p:nvPr/>
        </p:nvSpPr>
        <p:spPr>
          <a:xfrm>
            <a:off x="621792" y="347472"/>
            <a:ext cx="4480560" cy="201168"/>
          </a:xfrm>
          <a:prstGeom prst="rect">
            <a:avLst/>
          </a:prstGeom>
          <a:noFill/>
        </p:spPr>
        <p:txBody>
          <a:bodyPr wrap="square" lIns="0" rIns="0" tIns="0" bIns="0" anchor="t">
            <a:spAutoFit/>
          </a:bodyPr>
          <a:lstStyle/>
          <a:p>
            <a:pPr algn="l">
              <a:lnSpc>
                <a:spcPct val="100000"/>
              </a:lnSpc>
            </a:pPr>
            <a:r>
              <a:rPr sz="850" b="1" i="0">
                <a:solidFill>
                  <a:srgbClr val="D7A13A"/>
                </a:solidFill>
                <a:latin typeface="Aptos"/>
              </a:rPr>
              <a:t>WHO WE ARE</a:t>
            </a:r>
          </a:p>
        </p:txBody>
      </p:sp>
      <p:sp>
        <p:nvSpPr>
          <p:cNvPr id="3" name="TextBox 2"/>
          <p:cNvSpPr txBox="1"/>
          <p:nvPr/>
        </p:nvSpPr>
        <p:spPr>
          <a:xfrm>
            <a:off x="621792" y="621792"/>
            <a:ext cx="10881360" cy="530352"/>
          </a:xfrm>
          <a:prstGeom prst="rect">
            <a:avLst/>
          </a:prstGeom>
          <a:noFill/>
        </p:spPr>
        <p:txBody>
          <a:bodyPr wrap="square" lIns="0" rIns="0" tIns="0" bIns="0" anchor="t">
            <a:spAutoFit/>
          </a:bodyPr>
          <a:lstStyle/>
          <a:p>
            <a:pPr algn="l">
              <a:lnSpc>
                <a:spcPct val="100000"/>
              </a:lnSpc>
            </a:pPr>
            <a:r>
              <a:rPr sz="2900" b="1" i="0">
                <a:solidFill>
                  <a:srgbClr val="102D4D"/>
                </a:solidFill>
                <a:latin typeface="Aptos Display"/>
              </a:rPr>
              <a:t>What is MANIFEST?</a:t>
            </a:r>
          </a:p>
        </p:txBody>
      </p:sp>
      <p:sp>
        <p:nvSpPr>
          <p:cNvPr id="4" name="Rectangle 3"/>
          <p:cNvSpPr/>
          <p:nvPr/>
        </p:nvSpPr>
        <p:spPr>
          <a:xfrm>
            <a:off x="621792" y="1170432"/>
            <a:ext cx="530352" cy="32004"/>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95160" y="713232"/>
            <a:ext cx="4526280" cy="347472"/>
          </a:xfrm>
          <a:prstGeom prst="rect">
            <a:avLst/>
          </a:prstGeom>
          <a:noFill/>
        </p:spPr>
        <p:txBody>
          <a:bodyPr wrap="square" lIns="0" rIns="0" tIns="0" bIns="0" anchor="t">
            <a:spAutoFit/>
          </a:bodyPr>
          <a:lstStyle/>
          <a:p>
            <a:pPr algn="r">
              <a:lnSpc>
                <a:spcPct val="100000"/>
              </a:lnSpc>
            </a:pPr>
            <a:r>
              <a:rPr sz="1300" b="0" i="0">
                <a:solidFill>
                  <a:srgbClr val="627080"/>
                </a:solidFill>
                <a:latin typeface="Aptos"/>
              </a:rPr>
              <a:t>A missionary association founded in 2023.</a:t>
            </a:r>
          </a:p>
        </p:txBody>
      </p:sp>
      <p:sp>
        <p:nvSpPr>
          <p:cNvPr id="6" name="Rounded Rectangle 5"/>
          <p:cNvSpPr/>
          <p:nvPr/>
        </p:nvSpPr>
        <p:spPr>
          <a:xfrm>
            <a:off x="667512" y="1472184"/>
            <a:ext cx="5394960" cy="1920240"/>
          </a:xfrm>
          <a:prstGeom prst="roundRect">
            <a:avLst/>
          </a:prstGeom>
          <a:solidFill>
            <a:srgbClr val="D9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 y="1408176"/>
            <a:ext cx="5394960" cy="1920240"/>
          </a:xfrm>
          <a:prstGeom prst="roundRect">
            <a:avLst/>
          </a:prstGeom>
          <a:solidFill>
            <a:srgbClr val="FFFFFF"/>
          </a:solidFill>
          <a:ln w="8890">
            <a:solidFill>
              <a:srgbClr val="E7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ng_antan-02.jpg"/>
          <p:cNvPicPr>
            <a:picLocks noChangeAspect="1"/>
          </p:cNvPicPr>
          <p:nvPr/>
        </p:nvPicPr>
        <p:blipFill>
          <a:blip r:embed="rId2"/>
          <a:srcRect l="26964" r="26964"/>
          <a:stretch>
            <a:fillRect/>
          </a:stretch>
        </p:blipFill>
        <p:spPr>
          <a:xfrm>
            <a:off x="621792" y="1408176"/>
            <a:ext cx="1572768" cy="1920240"/>
          </a:xfrm>
          <a:prstGeom prst="rect">
            <a:avLst/>
          </a:prstGeom>
        </p:spPr>
      </p:pic>
      <p:sp>
        <p:nvSpPr>
          <p:cNvPr id="9" name="TextBox 8"/>
          <p:cNvSpPr txBox="1"/>
          <p:nvPr/>
        </p:nvSpPr>
        <p:spPr>
          <a:xfrm>
            <a:off x="2404872" y="1591056"/>
            <a:ext cx="3429000" cy="347472"/>
          </a:xfrm>
          <a:prstGeom prst="rect">
            <a:avLst/>
          </a:prstGeom>
          <a:noFill/>
        </p:spPr>
        <p:txBody>
          <a:bodyPr wrap="square" lIns="0" rIns="0" tIns="0" bIns="0" anchor="t">
            <a:spAutoFit/>
          </a:bodyPr>
          <a:lstStyle/>
          <a:p>
            <a:pPr algn="l">
              <a:lnSpc>
                <a:spcPct val="100000"/>
              </a:lnSpc>
            </a:pPr>
            <a:r>
              <a:rPr sz="1450" b="1" i="0">
                <a:solidFill>
                  <a:srgbClr val="102D4D"/>
                </a:solidFill>
                <a:latin typeface="Aptos Display"/>
              </a:rPr>
              <a:t>ANTANANARIVO  •  ANALAMANGA</a:t>
            </a:r>
          </a:p>
        </p:txBody>
      </p:sp>
      <p:sp>
        <p:nvSpPr>
          <p:cNvPr id="10" name="TextBox 9"/>
          <p:cNvSpPr txBox="1"/>
          <p:nvPr/>
        </p:nvSpPr>
        <p:spPr>
          <a:xfrm>
            <a:off x="2404872" y="1984248"/>
            <a:ext cx="3429000" cy="1252728"/>
          </a:xfrm>
          <a:prstGeom prst="rect">
            <a:avLst/>
          </a:prstGeom>
          <a:noFill/>
        </p:spPr>
        <p:txBody>
          <a:bodyPr wrap="square" lIns="0" rIns="0" tIns="0" bIns="0" anchor="t">
            <a:spAutoFit/>
          </a:bodyPr>
          <a:lstStyle/>
          <a:p>
            <a:pPr algn="l">
              <a:lnSpc>
                <a:spcPct val="102000"/>
              </a:lnSpc>
            </a:pPr>
            <a:r>
              <a:rPr sz="1170" b="0" i="0">
                <a:solidFill>
                  <a:srgbClr val="627080"/>
                </a:solidFill>
                <a:latin typeface="Aptos"/>
              </a:rPr>
              <a:t>English classes and discipleship supporting children, young people, and adults.</a:t>
            </a:r>
          </a:p>
        </p:txBody>
      </p:sp>
      <p:sp>
        <p:nvSpPr>
          <p:cNvPr id="11" name="Rounded Rectangle 10"/>
          <p:cNvSpPr/>
          <p:nvPr/>
        </p:nvSpPr>
        <p:spPr>
          <a:xfrm>
            <a:off x="6227064" y="1472184"/>
            <a:ext cx="5394960" cy="1920240"/>
          </a:xfrm>
          <a:prstGeom prst="roundRect">
            <a:avLst/>
          </a:prstGeom>
          <a:solidFill>
            <a:srgbClr val="D9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81344" y="1408176"/>
            <a:ext cx="5394960" cy="1920240"/>
          </a:xfrm>
          <a:prstGeom prst="roundRect">
            <a:avLst/>
          </a:prstGeom>
          <a:solidFill>
            <a:srgbClr val="FFFFFF"/>
          </a:solidFill>
          <a:ln w="8890">
            <a:solidFill>
              <a:srgbClr val="E7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mf_belobaka-01.jpg"/>
          <p:cNvPicPr>
            <a:picLocks noChangeAspect="1"/>
          </p:cNvPicPr>
          <p:nvPr/>
        </p:nvPicPr>
        <p:blipFill>
          <a:blip r:embed="rId3"/>
          <a:srcRect l="26930" r="26930"/>
          <a:stretch>
            <a:fillRect/>
          </a:stretch>
        </p:blipFill>
        <p:spPr>
          <a:xfrm>
            <a:off x="6181344" y="1408176"/>
            <a:ext cx="1572768" cy="1920240"/>
          </a:xfrm>
          <a:prstGeom prst="rect">
            <a:avLst/>
          </a:prstGeom>
        </p:spPr>
      </p:pic>
      <p:sp>
        <p:nvSpPr>
          <p:cNvPr id="14" name="TextBox 13"/>
          <p:cNvSpPr txBox="1"/>
          <p:nvPr/>
        </p:nvSpPr>
        <p:spPr>
          <a:xfrm>
            <a:off x="7964423" y="1591056"/>
            <a:ext cx="3429000" cy="347472"/>
          </a:xfrm>
          <a:prstGeom prst="rect">
            <a:avLst/>
          </a:prstGeom>
          <a:noFill/>
        </p:spPr>
        <p:txBody>
          <a:bodyPr wrap="square" lIns="0" rIns="0" tIns="0" bIns="0" anchor="t">
            <a:spAutoFit/>
          </a:bodyPr>
          <a:lstStyle/>
          <a:p>
            <a:pPr algn="l">
              <a:lnSpc>
                <a:spcPct val="100000"/>
              </a:lnSpc>
            </a:pPr>
            <a:r>
              <a:rPr sz="1450" b="1" i="0">
                <a:solidFill>
                  <a:srgbClr val="102D4D"/>
                </a:solidFill>
                <a:latin typeface="Aptos Display"/>
              </a:rPr>
              <a:t>BELOBAKA  •  BONGOLAVA</a:t>
            </a:r>
          </a:p>
        </p:txBody>
      </p:sp>
      <p:sp>
        <p:nvSpPr>
          <p:cNvPr id="15" name="TextBox 14"/>
          <p:cNvSpPr txBox="1"/>
          <p:nvPr/>
        </p:nvSpPr>
        <p:spPr>
          <a:xfrm>
            <a:off x="7964423" y="1984248"/>
            <a:ext cx="3429000" cy="1252728"/>
          </a:xfrm>
          <a:prstGeom prst="rect">
            <a:avLst/>
          </a:prstGeom>
          <a:noFill/>
        </p:spPr>
        <p:txBody>
          <a:bodyPr wrap="square" lIns="0" rIns="0" tIns="0" bIns="0" anchor="t">
            <a:spAutoFit/>
          </a:bodyPr>
          <a:lstStyle/>
          <a:p>
            <a:pPr algn="l">
              <a:lnSpc>
                <a:spcPct val="102000"/>
              </a:lnSpc>
            </a:pPr>
            <a:r>
              <a:rPr sz="1170" b="0" i="0">
                <a:solidFill>
                  <a:srgbClr val="627080"/>
                </a:solidFill>
                <a:latin typeface="Aptos"/>
              </a:rPr>
              <a:t>Literacy, English, children’s ministry, sport, music, and community outreach.</a:t>
            </a:r>
          </a:p>
        </p:txBody>
      </p:sp>
      <p:sp>
        <p:nvSpPr>
          <p:cNvPr id="16" name="Rounded Rectangle 15"/>
          <p:cNvSpPr/>
          <p:nvPr/>
        </p:nvSpPr>
        <p:spPr>
          <a:xfrm>
            <a:off x="667512" y="3611879"/>
            <a:ext cx="5394960" cy="1920240"/>
          </a:xfrm>
          <a:prstGeom prst="roundRect">
            <a:avLst/>
          </a:prstGeom>
          <a:solidFill>
            <a:srgbClr val="D9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 y="3547872"/>
            <a:ext cx="5394960" cy="1920240"/>
          </a:xfrm>
          <a:prstGeom prst="roundRect">
            <a:avLst/>
          </a:prstGeom>
          <a:solidFill>
            <a:srgbClr val="FFFFFF"/>
          </a:solidFill>
          <a:ln w="8890">
            <a:solidFill>
              <a:srgbClr val="E7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mahambo_football-01.jpg"/>
          <p:cNvPicPr>
            <a:picLocks noChangeAspect="1"/>
          </p:cNvPicPr>
          <p:nvPr/>
        </p:nvPicPr>
        <p:blipFill>
          <a:blip r:embed="rId4"/>
          <a:srcRect l="31571" r="31571"/>
          <a:stretch>
            <a:fillRect/>
          </a:stretch>
        </p:blipFill>
        <p:spPr>
          <a:xfrm>
            <a:off x="621792" y="3547872"/>
            <a:ext cx="1572768" cy="1920240"/>
          </a:xfrm>
          <a:prstGeom prst="rect">
            <a:avLst/>
          </a:prstGeom>
        </p:spPr>
      </p:pic>
      <p:sp>
        <p:nvSpPr>
          <p:cNvPr id="19" name="TextBox 18"/>
          <p:cNvSpPr txBox="1"/>
          <p:nvPr/>
        </p:nvSpPr>
        <p:spPr>
          <a:xfrm>
            <a:off x="2404872" y="3730752"/>
            <a:ext cx="3429000" cy="347472"/>
          </a:xfrm>
          <a:prstGeom prst="rect">
            <a:avLst/>
          </a:prstGeom>
          <a:noFill/>
        </p:spPr>
        <p:txBody>
          <a:bodyPr wrap="square" lIns="0" rIns="0" tIns="0" bIns="0" anchor="t">
            <a:spAutoFit/>
          </a:bodyPr>
          <a:lstStyle/>
          <a:p>
            <a:pPr algn="l">
              <a:lnSpc>
                <a:spcPct val="100000"/>
              </a:lnSpc>
            </a:pPr>
            <a:r>
              <a:rPr sz="1450" b="1" i="0">
                <a:solidFill>
                  <a:srgbClr val="102D4D"/>
                </a:solidFill>
                <a:latin typeface="Aptos Display"/>
              </a:rPr>
              <a:t>MAHAMBO  •  ANALANJIROFO</a:t>
            </a:r>
          </a:p>
        </p:txBody>
      </p:sp>
      <p:sp>
        <p:nvSpPr>
          <p:cNvPr id="20" name="TextBox 19"/>
          <p:cNvSpPr txBox="1"/>
          <p:nvPr/>
        </p:nvSpPr>
        <p:spPr>
          <a:xfrm>
            <a:off x="2404872" y="4123944"/>
            <a:ext cx="3429000" cy="1252728"/>
          </a:xfrm>
          <a:prstGeom prst="rect">
            <a:avLst/>
          </a:prstGeom>
          <a:noFill/>
        </p:spPr>
        <p:txBody>
          <a:bodyPr wrap="square" lIns="0" rIns="0" tIns="0" bIns="0" anchor="t">
            <a:spAutoFit/>
          </a:bodyPr>
          <a:lstStyle/>
          <a:p>
            <a:pPr algn="l">
              <a:lnSpc>
                <a:spcPct val="102000"/>
              </a:lnSpc>
            </a:pPr>
            <a:r>
              <a:rPr sz="1170" b="0" i="0">
                <a:solidFill>
                  <a:srgbClr val="627080"/>
                </a:solidFill>
                <a:latin typeface="Aptos"/>
              </a:rPr>
              <a:t>Literacy, English, football, digital skills, coding, electronics, identity, and graduations.</a:t>
            </a:r>
          </a:p>
        </p:txBody>
      </p:sp>
      <p:sp>
        <p:nvSpPr>
          <p:cNvPr id="21" name="Rounded Rectangle 20"/>
          <p:cNvSpPr/>
          <p:nvPr/>
        </p:nvSpPr>
        <p:spPr>
          <a:xfrm>
            <a:off x="6227064" y="3611879"/>
            <a:ext cx="5394960" cy="1920240"/>
          </a:xfrm>
          <a:prstGeom prst="roundRect">
            <a:avLst/>
          </a:prstGeom>
          <a:solidFill>
            <a:srgbClr val="D9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81344" y="3547872"/>
            <a:ext cx="5394960" cy="1920240"/>
          </a:xfrm>
          <a:prstGeom prst="roundRect">
            <a:avLst/>
          </a:prstGeom>
          <a:solidFill>
            <a:srgbClr val="FFFFFF"/>
          </a:solidFill>
          <a:ln w="8890">
            <a:solidFill>
              <a:srgbClr val="E7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nid-group.jpg"/>
          <p:cNvPicPr>
            <a:picLocks noChangeAspect="1"/>
          </p:cNvPicPr>
          <p:nvPr/>
        </p:nvPicPr>
        <p:blipFill>
          <a:blip r:embed="rId5"/>
          <a:srcRect l="19245" r="19245"/>
          <a:stretch>
            <a:fillRect/>
          </a:stretch>
        </p:blipFill>
        <p:spPr>
          <a:xfrm>
            <a:off x="6181344" y="3547872"/>
            <a:ext cx="1572768" cy="1920240"/>
          </a:xfrm>
          <a:prstGeom prst="rect">
            <a:avLst/>
          </a:prstGeom>
        </p:spPr>
      </p:pic>
      <p:sp>
        <p:nvSpPr>
          <p:cNvPr id="24" name="TextBox 23"/>
          <p:cNvSpPr txBox="1"/>
          <p:nvPr/>
        </p:nvSpPr>
        <p:spPr>
          <a:xfrm>
            <a:off x="7964423" y="3730752"/>
            <a:ext cx="3429000" cy="347472"/>
          </a:xfrm>
          <a:prstGeom prst="rect">
            <a:avLst/>
          </a:prstGeom>
          <a:noFill/>
        </p:spPr>
        <p:txBody>
          <a:bodyPr wrap="square" lIns="0" rIns="0" tIns="0" bIns="0" anchor="t">
            <a:spAutoFit/>
          </a:bodyPr>
          <a:lstStyle/>
          <a:p>
            <a:pPr algn="l">
              <a:lnSpc>
                <a:spcPct val="100000"/>
              </a:lnSpc>
            </a:pPr>
            <a:r>
              <a:rPr sz="1450" b="1" i="0">
                <a:solidFill>
                  <a:srgbClr val="102D4D"/>
                </a:solidFill>
                <a:latin typeface="Aptos Display"/>
              </a:rPr>
              <a:t>TOLIARA (TULÉAR)  •  NID DE L’ESPOIR</a:t>
            </a:r>
          </a:p>
        </p:txBody>
      </p:sp>
      <p:sp>
        <p:nvSpPr>
          <p:cNvPr id="25" name="TextBox 24"/>
          <p:cNvSpPr txBox="1"/>
          <p:nvPr/>
        </p:nvSpPr>
        <p:spPr>
          <a:xfrm>
            <a:off x="7964423" y="4123944"/>
            <a:ext cx="3429000" cy="1252728"/>
          </a:xfrm>
          <a:prstGeom prst="rect">
            <a:avLst/>
          </a:prstGeom>
          <a:noFill/>
        </p:spPr>
        <p:txBody>
          <a:bodyPr wrap="square" lIns="0" rIns="0" tIns="0" bIns="0" anchor="t">
            <a:spAutoFit/>
          </a:bodyPr>
          <a:lstStyle/>
          <a:p>
            <a:pPr algn="l">
              <a:lnSpc>
                <a:spcPct val="102000"/>
              </a:lnSpc>
            </a:pPr>
            <a:r>
              <a:rPr sz="1170" b="0" i="0">
                <a:solidFill>
                  <a:srgbClr val="627080"/>
                </a:solidFill>
                <a:latin typeface="Aptos"/>
              </a:rPr>
              <a:t>Accelerated learning, school meals, and holistic support for out-of-school children.</a:t>
            </a:r>
          </a:p>
        </p:txBody>
      </p:sp>
      <p:sp>
        <p:nvSpPr>
          <p:cNvPr id="26" name="TextBox 25"/>
          <p:cNvSpPr txBox="1"/>
          <p:nvPr/>
        </p:nvSpPr>
        <p:spPr>
          <a:xfrm>
            <a:off x="1234440" y="5769864"/>
            <a:ext cx="9738360" cy="42976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00" b="0" i="1">
                <a:solidFill>
                  <a:srgbClr val="102D4D"/>
                </a:solidFill>
                <a:latin typeface="Aptos"/>
              </a:rPr>
              <a:t>“I have come that they may have life, and have it abundantly.”  </a:t>
            </a:r>
            <a:r>
              <a:rPr sz="900" b="1" i="0">
                <a:solidFill>
                  <a:srgbClr val="D7A13A"/>
                </a:solidFill>
                <a:latin typeface="Aptos"/>
              </a:rPr>
              <a:t>JOHN 10:10</a:t>
            </a:r>
          </a:p>
        </p:txBody>
      </p:sp>
      <p:sp>
        <p:nvSpPr>
          <p:cNvPr id="27" name="TextBox 26"/>
          <p:cNvSpPr txBox="1"/>
          <p:nvPr/>
        </p:nvSpPr>
        <p:spPr>
          <a:xfrm>
            <a:off x="621792" y="6519672"/>
            <a:ext cx="3200400" cy="164592"/>
          </a:xfrm>
          <a:prstGeom prst="rect">
            <a:avLst/>
          </a:prstGeom>
          <a:noFill/>
        </p:spPr>
        <p:txBody>
          <a:bodyPr wrap="square" lIns="0" rIns="0" tIns="0" bIns="0" anchor="t">
            <a:spAutoFit/>
          </a:bodyPr>
          <a:lstStyle/>
          <a:p>
            <a:pPr algn="l">
              <a:lnSpc>
                <a:spcPct val="100000"/>
              </a:lnSpc>
            </a:pPr>
            <a:r>
              <a:rPr sz="750" b="1" i="0">
                <a:solidFill>
                  <a:srgbClr val="627080"/>
                </a:solidFill>
                <a:latin typeface="Aptos"/>
              </a:rPr>
              <a:t>MANIFEST  •  MADAGASCAR</a:t>
            </a:r>
          </a:p>
        </p:txBody>
      </p:sp>
      <p:sp>
        <p:nvSpPr>
          <p:cNvPr id="28" name="TextBox 27"/>
          <p:cNvSpPr txBox="1"/>
          <p:nvPr/>
        </p:nvSpPr>
        <p:spPr>
          <a:xfrm>
            <a:off x="11018520" y="6473952"/>
            <a:ext cx="530352" cy="228600"/>
          </a:xfrm>
          <a:prstGeom prst="rect">
            <a:avLst/>
          </a:prstGeom>
          <a:noFill/>
        </p:spPr>
        <p:txBody>
          <a:bodyPr wrap="square" lIns="0" rIns="0" tIns="0" bIns="0" anchor="t">
            <a:spAutoFit/>
          </a:bodyPr>
          <a:lstStyle/>
          <a:p>
            <a:pPr algn="r">
              <a:lnSpc>
                <a:spcPct val="100000"/>
              </a:lnSpc>
            </a:pPr>
            <a:r>
              <a:rPr sz="800" b="1" i="0">
                <a:solidFill>
                  <a:srgbClr val="627080"/>
                </a:solidFill>
                <a:latin typeface="Aptos"/>
              </a:rPr>
              <a:t>04</a:t>
            </a:r>
          </a:p>
        </p:txBody>
      </p:sp>
      <p:pic>
        <p:nvPicPr>
          <p:cNvPr id="29" name="Picture 28" descr="logo-watermark.png"/>
          <p:cNvPicPr>
            <a:picLocks noChangeAspect="1"/>
          </p:cNvPicPr>
          <p:nvPr/>
        </p:nvPicPr>
        <p:blipFill>
          <a:blip r:embed="rId6"/>
          <a:stretch>
            <a:fillRect/>
          </a:stretch>
        </p:blipFill>
        <p:spPr>
          <a:xfrm>
            <a:off x="11045952" y="128016"/>
            <a:ext cx="530352" cy="51206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71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87968" y="-1444752"/>
            <a:ext cx="4800600" cy="4800600"/>
          </a:xfrm>
          <a:prstGeom prst="ellipse">
            <a:avLst/>
          </a:prstGeom>
          <a:noFill/>
          <a:ln w="17780">
            <a:solidFill>
              <a:srgbClr val="18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299448" y="-1033271"/>
            <a:ext cx="3977639" cy="3977639"/>
          </a:xfrm>
          <a:prstGeom prst="ellipse">
            <a:avLst/>
          </a:prstGeom>
          <a:noFill/>
          <a:ln w="12700">
            <a:solidFill>
              <a:srgbClr val="18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783080" y="5065776"/>
            <a:ext cx="2926080" cy="2926080"/>
          </a:xfrm>
          <a:prstGeom prst="ellipse">
            <a:avLst/>
          </a:prstGeom>
          <a:noFill/>
          <a:ln w="12700">
            <a:solidFill>
              <a:srgbClr val="18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347472"/>
            <a:ext cx="4480560" cy="210312"/>
          </a:xfrm>
          <a:prstGeom prst="rect">
            <a:avLst/>
          </a:prstGeom>
          <a:noFill/>
        </p:spPr>
        <p:txBody>
          <a:bodyPr wrap="square" lIns="0" rIns="0" tIns="0" bIns="0" anchor="t">
            <a:spAutoFit/>
          </a:bodyPr>
          <a:lstStyle/>
          <a:p>
            <a:pPr algn="l">
              <a:spcBef>
                <a:spcPts val="0"/>
              </a:spcBef>
              <a:spcAft>
                <a:spcPts val="0"/>
              </a:spcAft>
            </a:pPr>
            <a:r>
              <a:rPr sz="850" b="1" i="0">
                <a:solidFill>
                  <a:srgbClr val="F0CC7A"/>
                </a:solidFill>
                <a:latin typeface="Aptos"/>
              </a:rPr>
              <a:t>OUR NAME  •  OUR IDENTITY</a:t>
            </a:r>
          </a:p>
        </p:txBody>
      </p:sp>
      <p:sp>
        <p:nvSpPr>
          <p:cNvPr id="7" name="Rectangle 6"/>
          <p:cNvSpPr/>
          <p:nvPr/>
        </p:nvSpPr>
        <p:spPr>
          <a:xfrm>
            <a:off x="621792" y="685800"/>
            <a:ext cx="530352" cy="32004"/>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52544" y="402336"/>
            <a:ext cx="6126480" cy="219456"/>
          </a:xfrm>
          <a:prstGeom prst="rect">
            <a:avLst/>
          </a:prstGeom>
          <a:noFill/>
        </p:spPr>
        <p:txBody>
          <a:bodyPr wrap="square" lIns="0" rIns="0" tIns="0" bIns="0" anchor="t">
            <a:spAutoFit/>
          </a:bodyPr>
          <a:lstStyle/>
          <a:p>
            <a:pPr algn="l">
              <a:spcBef>
                <a:spcPts val="0"/>
              </a:spcBef>
              <a:spcAft>
                <a:spcPts val="0"/>
              </a:spcAft>
            </a:pPr>
            <a:r>
              <a:rPr sz="819" b="1" i="0">
                <a:solidFill>
                  <a:srgbClr val="D8E1E8"/>
                </a:solidFill>
                <a:latin typeface="Aptos"/>
              </a:rPr>
              <a:t>A NAME THAT MAPS A JOURNEY FROM IDENTITY TO PURPOSE</a:t>
            </a:r>
          </a:p>
        </p:txBody>
      </p:sp>
      <p:sp>
        <p:nvSpPr>
          <p:cNvPr id="9" name="TextBox 8"/>
          <p:cNvSpPr txBox="1"/>
          <p:nvPr/>
        </p:nvSpPr>
        <p:spPr>
          <a:xfrm>
            <a:off x="621792" y="1005840"/>
            <a:ext cx="3273552" cy="1883664"/>
          </a:xfrm>
          <a:prstGeom prst="rect">
            <a:avLst/>
          </a:prstGeom>
          <a:noFill/>
        </p:spPr>
        <p:txBody>
          <a:bodyPr wrap="square" lIns="0" rIns="0" tIns="0" bIns="0">
            <a:spAutoFit/>
          </a:bodyPr>
          <a:lstStyle/>
          <a:p>
            <a:pPr>
              <a:lnSpc>
                <a:spcPct val="91000"/>
              </a:lnSpc>
              <a:spcBef>
                <a:spcPts val="0"/>
              </a:spcBef>
              <a:spcAft>
                <a:spcPts val="0"/>
              </a:spcAft>
            </a:pPr>
            <a:r>
              <a:rPr sz="2100" b="1">
                <a:solidFill>
                  <a:srgbClr val="FFFFFF"/>
                </a:solidFill>
                <a:latin typeface="Aptos Display"/>
              </a:rPr>
              <a:t>WHAT DOES</a:t>
            </a:r>
          </a:p>
          <a:p>
            <a:pPr>
              <a:lnSpc>
                <a:spcPct val="91000"/>
              </a:lnSpc>
              <a:spcBef>
                <a:spcPts val="0"/>
              </a:spcBef>
              <a:spcAft>
                <a:spcPts val="0"/>
              </a:spcAft>
            </a:pPr>
            <a:r>
              <a:rPr sz="3500" b="1">
                <a:solidFill>
                  <a:srgbClr val="F0CC7A"/>
                </a:solidFill>
                <a:latin typeface="Aptos Display"/>
              </a:rPr>
              <a:t>MANIFEST</a:t>
            </a:r>
          </a:p>
          <a:p>
            <a:pPr>
              <a:lnSpc>
                <a:spcPct val="91000"/>
              </a:lnSpc>
              <a:spcBef>
                <a:spcPts val="0"/>
              </a:spcBef>
              <a:spcAft>
                <a:spcPts val="0"/>
              </a:spcAft>
            </a:pPr>
            <a:r>
              <a:rPr sz="2100" b="1">
                <a:solidFill>
                  <a:srgbClr val="FFFFFF"/>
                </a:solidFill>
                <a:latin typeface="Aptos Display"/>
              </a:rPr>
              <a:t>MEAN?</a:t>
            </a:r>
          </a:p>
        </p:txBody>
      </p:sp>
      <p:sp>
        <p:nvSpPr>
          <p:cNvPr id="10" name="TextBox 9"/>
          <p:cNvSpPr txBox="1"/>
          <p:nvPr/>
        </p:nvSpPr>
        <p:spPr>
          <a:xfrm>
            <a:off x="640080" y="3054096"/>
            <a:ext cx="3108960" cy="969264"/>
          </a:xfrm>
          <a:prstGeom prst="rect">
            <a:avLst/>
          </a:prstGeom>
          <a:noFill/>
        </p:spPr>
        <p:txBody>
          <a:bodyPr wrap="square" lIns="0" rIns="0" tIns="0" bIns="0" anchor="ctr">
            <a:spAutoFit/>
          </a:bodyPr>
          <a:lstStyle/>
          <a:p>
            <a:pPr algn="l">
              <a:spcBef>
                <a:spcPts val="0"/>
              </a:spcBef>
              <a:spcAft>
                <a:spcPts val="0"/>
              </a:spcAft>
            </a:pPr>
            <a:r>
              <a:rPr sz="1320" b="0" i="0">
                <a:solidFill>
                  <a:srgbClr val="D8E1E8"/>
                </a:solidFill>
                <a:latin typeface="Aptos"/>
              </a:rPr>
              <a:t>Our name describes a journey: people discovering their God-given identity, growing into purpose and living with dignity.</a:t>
            </a:r>
          </a:p>
        </p:txBody>
      </p:sp>
      <p:sp>
        <p:nvSpPr>
          <p:cNvPr id="11" name="TextBox 10"/>
          <p:cNvSpPr txBox="1"/>
          <p:nvPr/>
        </p:nvSpPr>
        <p:spPr>
          <a:xfrm>
            <a:off x="640080" y="4288536"/>
            <a:ext cx="3063240" cy="310896"/>
          </a:xfrm>
          <a:prstGeom prst="rect">
            <a:avLst/>
          </a:prstGeom>
          <a:noFill/>
        </p:spPr>
        <p:txBody>
          <a:bodyPr wrap="square" lIns="0" rIns="0" tIns="0" bIns="0" anchor="t">
            <a:spAutoFit/>
          </a:bodyPr>
          <a:lstStyle/>
          <a:p>
            <a:pPr algn="l">
              <a:spcBef>
                <a:spcPts val="0"/>
              </a:spcBef>
              <a:spcAft>
                <a:spcPts val="0"/>
              </a:spcAft>
            </a:pPr>
            <a:r>
              <a:rPr sz="1080" b="1" i="0">
                <a:solidFill>
                  <a:srgbClr val="F0CC7A"/>
                </a:solidFill>
                <a:latin typeface="Aptos"/>
              </a:rPr>
              <a:t>IDENTITY.  PURPOSE.  DIGNITY.</a:t>
            </a:r>
          </a:p>
        </p:txBody>
      </p:sp>
      <p:sp>
        <p:nvSpPr>
          <p:cNvPr id="12" name="Rectangle 11"/>
          <p:cNvSpPr/>
          <p:nvPr/>
        </p:nvSpPr>
        <p:spPr>
          <a:xfrm>
            <a:off x="640080" y="4745736"/>
            <a:ext cx="2816352" cy="14630"/>
          </a:xfrm>
          <a:prstGeom prst="rect">
            <a:avLst/>
          </a:prstGeom>
          <a:solidFill>
            <a:srgbClr val="183E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946904"/>
            <a:ext cx="3035808" cy="749808"/>
          </a:xfrm>
          <a:prstGeom prst="rect">
            <a:avLst/>
          </a:prstGeom>
          <a:noFill/>
        </p:spPr>
        <p:txBody>
          <a:bodyPr wrap="square" lIns="0" rIns="0" tIns="0" bIns="0" anchor="t">
            <a:spAutoFit/>
          </a:bodyPr>
          <a:lstStyle/>
          <a:p>
            <a:pPr algn="l">
              <a:spcBef>
                <a:spcPts val="0"/>
              </a:spcBef>
              <a:spcAft>
                <a:spcPts val="0"/>
              </a:spcAft>
            </a:pPr>
            <a:r>
              <a:rPr sz="919" b="0" i="1">
                <a:solidFill>
                  <a:srgbClr val="D8E1E8"/>
                </a:solidFill>
                <a:latin typeface="Aptos"/>
              </a:rPr>
              <a:t>“I have come that they may have life, and have it abundantly.”
JOHN 10:10</a:t>
            </a:r>
          </a:p>
        </p:txBody>
      </p:sp>
      <p:sp>
        <p:nvSpPr>
          <p:cNvPr id="14" name="Rounded Rectangle 13"/>
          <p:cNvSpPr/>
          <p:nvPr/>
        </p:nvSpPr>
        <p:spPr>
          <a:xfrm>
            <a:off x="4352544" y="950976"/>
            <a:ext cx="3383280" cy="1325880"/>
          </a:xfrm>
          <a:prstGeom prst="roundRect">
            <a:avLst>
              <a:gd name="adj" fmla="val 8000"/>
            </a:avLst>
          </a:prstGeom>
          <a:solidFill>
            <a:srgbClr val="F7F4EE"/>
          </a:solidFill>
          <a:ln w="10160">
            <a:solidFill>
              <a:srgbClr val="E4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81144" y="950976"/>
            <a:ext cx="475488" cy="41148"/>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1144" y="1133856"/>
            <a:ext cx="2487168" cy="219456"/>
          </a:xfrm>
          <a:prstGeom prst="rect">
            <a:avLst/>
          </a:prstGeom>
          <a:noFill/>
        </p:spPr>
        <p:txBody>
          <a:bodyPr wrap="square" lIns="0" rIns="0" tIns="0" bIns="0" anchor="t">
            <a:spAutoFit/>
          </a:bodyPr>
          <a:lstStyle/>
          <a:p>
            <a:pPr algn="l">
              <a:spcBef>
                <a:spcPts val="0"/>
              </a:spcBef>
              <a:spcAft>
                <a:spcPts val="0"/>
              </a:spcAft>
            </a:pPr>
            <a:r>
              <a:rPr sz="1050" b="1" i="0">
                <a:solidFill>
                  <a:srgbClr val="102D4D"/>
                </a:solidFill>
                <a:latin typeface="Aptos"/>
              </a:rPr>
              <a:t>MAN</a:t>
            </a:r>
          </a:p>
        </p:txBody>
      </p:sp>
      <p:sp>
        <p:nvSpPr>
          <p:cNvPr id="17" name="TextBox 16"/>
          <p:cNvSpPr txBox="1"/>
          <p:nvPr/>
        </p:nvSpPr>
        <p:spPr>
          <a:xfrm>
            <a:off x="7114031" y="1115568"/>
            <a:ext cx="384048" cy="228600"/>
          </a:xfrm>
          <a:prstGeom prst="rect">
            <a:avLst/>
          </a:prstGeom>
          <a:noFill/>
        </p:spPr>
        <p:txBody>
          <a:bodyPr wrap="square" lIns="0" rIns="0" tIns="0" bIns="0" anchor="t">
            <a:spAutoFit/>
          </a:bodyPr>
          <a:lstStyle/>
          <a:p>
            <a:pPr algn="r">
              <a:spcBef>
                <a:spcPts val="0"/>
              </a:spcBef>
              <a:spcAft>
                <a:spcPts val="0"/>
              </a:spcAft>
            </a:pPr>
            <a:r>
              <a:rPr sz="900" b="1" i="0">
                <a:solidFill>
                  <a:srgbClr val="D7A13A"/>
                </a:solidFill>
                <a:latin typeface="Aptos"/>
              </a:rPr>
              <a:t>01</a:t>
            </a:r>
          </a:p>
        </p:txBody>
      </p:sp>
      <p:sp>
        <p:nvSpPr>
          <p:cNvPr id="18" name="TextBox 17"/>
          <p:cNvSpPr txBox="1"/>
          <p:nvPr/>
        </p:nvSpPr>
        <p:spPr>
          <a:xfrm>
            <a:off x="4581144" y="1481328"/>
            <a:ext cx="2907792" cy="548640"/>
          </a:xfrm>
          <a:prstGeom prst="rect">
            <a:avLst/>
          </a:prstGeom>
          <a:noFill/>
        </p:spPr>
        <p:txBody>
          <a:bodyPr wrap="square" lIns="0" rIns="0" tIns="0" bIns="0">
            <a:spAutoFit/>
          </a:bodyPr>
          <a:lstStyle/>
          <a:p>
            <a:pPr>
              <a:lnSpc>
                <a:spcPct val="105000"/>
              </a:lnSpc>
              <a:spcBef>
                <a:spcPts val="0"/>
              </a:spcBef>
              <a:spcAft>
                <a:spcPts val="0"/>
              </a:spcAft>
            </a:pPr>
            <a:r>
              <a:rPr sz="1400">
                <a:solidFill>
                  <a:srgbClr val="627080"/>
                </a:solidFill>
                <a:latin typeface="Aptos"/>
              </a:rPr>
              <a:t>A person created in </a:t>
            </a:r>
            <a:r>
              <a:rPr sz="1400" b="1">
                <a:solidFill>
                  <a:srgbClr val="102D4D"/>
                </a:solidFill>
                <a:latin typeface="Aptos"/>
              </a:rPr>
              <a:t>God’s image.</a:t>
            </a:r>
          </a:p>
        </p:txBody>
      </p:sp>
      <p:sp>
        <p:nvSpPr>
          <p:cNvPr id="19" name="Rounded Rectangle 18"/>
          <p:cNvSpPr/>
          <p:nvPr/>
        </p:nvSpPr>
        <p:spPr>
          <a:xfrm>
            <a:off x="7982712" y="950976"/>
            <a:ext cx="3383280" cy="1325880"/>
          </a:xfrm>
          <a:prstGeom prst="roundRect">
            <a:avLst>
              <a:gd name="adj" fmla="val 8000"/>
            </a:avLst>
          </a:prstGeom>
          <a:solidFill>
            <a:srgbClr val="F7F4EE"/>
          </a:solidFill>
          <a:ln w="10160">
            <a:solidFill>
              <a:srgbClr val="E4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11312" y="950976"/>
            <a:ext cx="475488" cy="41148"/>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11312" y="1133856"/>
            <a:ext cx="2487168" cy="219456"/>
          </a:xfrm>
          <a:prstGeom prst="rect">
            <a:avLst/>
          </a:prstGeom>
          <a:noFill/>
        </p:spPr>
        <p:txBody>
          <a:bodyPr wrap="square" lIns="0" rIns="0" tIns="0" bIns="0" anchor="t">
            <a:spAutoFit/>
          </a:bodyPr>
          <a:lstStyle/>
          <a:p>
            <a:pPr algn="l">
              <a:spcBef>
                <a:spcPts val="0"/>
              </a:spcBef>
              <a:spcAft>
                <a:spcPts val="0"/>
              </a:spcAft>
            </a:pPr>
            <a:r>
              <a:rPr sz="1050" b="1" i="0">
                <a:solidFill>
                  <a:srgbClr val="102D4D"/>
                </a:solidFill>
                <a:latin typeface="Aptos"/>
              </a:rPr>
              <a:t>INTO</a:t>
            </a:r>
          </a:p>
        </p:txBody>
      </p:sp>
      <p:sp>
        <p:nvSpPr>
          <p:cNvPr id="22" name="TextBox 21"/>
          <p:cNvSpPr txBox="1"/>
          <p:nvPr/>
        </p:nvSpPr>
        <p:spPr>
          <a:xfrm>
            <a:off x="10744200" y="1115568"/>
            <a:ext cx="384048" cy="228600"/>
          </a:xfrm>
          <a:prstGeom prst="rect">
            <a:avLst/>
          </a:prstGeom>
          <a:noFill/>
        </p:spPr>
        <p:txBody>
          <a:bodyPr wrap="square" lIns="0" rIns="0" tIns="0" bIns="0" anchor="t">
            <a:spAutoFit/>
          </a:bodyPr>
          <a:lstStyle/>
          <a:p>
            <a:pPr algn="r">
              <a:spcBef>
                <a:spcPts val="0"/>
              </a:spcBef>
              <a:spcAft>
                <a:spcPts val="0"/>
              </a:spcAft>
            </a:pPr>
            <a:r>
              <a:rPr sz="900" b="1" i="0">
                <a:solidFill>
                  <a:srgbClr val="D7A13A"/>
                </a:solidFill>
                <a:latin typeface="Aptos"/>
              </a:rPr>
              <a:t>02</a:t>
            </a:r>
          </a:p>
        </p:txBody>
      </p:sp>
      <p:sp>
        <p:nvSpPr>
          <p:cNvPr id="23" name="TextBox 22"/>
          <p:cNvSpPr txBox="1"/>
          <p:nvPr/>
        </p:nvSpPr>
        <p:spPr>
          <a:xfrm>
            <a:off x="8211312" y="1481328"/>
            <a:ext cx="2907792" cy="548640"/>
          </a:xfrm>
          <a:prstGeom prst="rect">
            <a:avLst/>
          </a:prstGeom>
          <a:noFill/>
        </p:spPr>
        <p:txBody>
          <a:bodyPr wrap="square" lIns="0" rIns="0" tIns="0" bIns="0">
            <a:spAutoFit/>
          </a:bodyPr>
          <a:lstStyle/>
          <a:p>
            <a:pPr>
              <a:lnSpc>
                <a:spcPct val="105000"/>
              </a:lnSpc>
              <a:spcBef>
                <a:spcPts val="0"/>
              </a:spcBef>
              <a:spcAft>
                <a:spcPts val="0"/>
              </a:spcAft>
            </a:pPr>
            <a:r>
              <a:rPr sz="1400">
                <a:solidFill>
                  <a:srgbClr val="627080"/>
                </a:solidFill>
                <a:latin typeface="Aptos"/>
              </a:rPr>
              <a:t>A journey of </a:t>
            </a:r>
            <a:r>
              <a:rPr sz="1400" b="1">
                <a:solidFill>
                  <a:srgbClr val="102D4D"/>
                </a:solidFill>
                <a:latin typeface="Aptos"/>
              </a:rPr>
              <a:t>becoming.</a:t>
            </a:r>
          </a:p>
        </p:txBody>
      </p:sp>
      <p:sp>
        <p:nvSpPr>
          <p:cNvPr id="24" name="Rounded Rectangle 23"/>
          <p:cNvSpPr/>
          <p:nvPr/>
        </p:nvSpPr>
        <p:spPr>
          <a:xfrm>
            <a:off x="4352544" y="2487168"/>
            <a:ext cx="3383280" cy="1325880"/>
          </a:xfrm>
          <a:prstGeom prst="roundRect">
            <a:avLst>
              <a:gd name="adj" fmla="val 8000"/>
            </a:avLst>
          </a:prstGeom>
          <a:solidFill>
            <a:srgbClr val="F7F4EE"/>
          </a:solidFill>
          <a:ln w="10160">
            <a:solidFill>
              <a:srgbClr val="E4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81144" y="2487168"/>
            <a:ext cx="475488" cy="41148"/>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81144" y="2670048"/>
            <a:ext cx="2487168" cy="219456"/>
          </a:xfrm>
          <a:prstGeom prst="rect">
            <a:avLst/>
          </a:prstGeom>
          <a:noFill/>
        </p:spPr>
        <p:txBody>
          <a:bodyPr wrap="square" lIns="0" rIns="0" tIns="0" bIns="0" anchor="t">
            <a:spAutoFit/>
          </a:bodyPr>
          <a:lstStyle/>
          <a:p>
            <a:pPr algn="l">
              <a:spcBef>
                <a:spcPts val="0"/>
              </a:spcBef>
              <a:spcAft>
                <a:spcPts val="0"/>
              </a:spcAft>
            </a:pPr>
            <a:r>
              <a:rPr sz="1050" b="1" i="0">
                <a:solidFill>
                  <a:srgbClr val="102D4D"/>
                </a:solidFill>
                <a:latin typeface="Aptos"/>
              </a:rPr>
              <a:t>THE FULLEST</a:t>
            </a:r>
          </a:p>
        </p:txBody>
      </p:sp>
      <p:sp>
        <p:nvSpPr>
          <p:cNvPr id="27" name="TextBox 26"/>
          <p:cNvSpPr txBox="1"/>
          <p:nvPr/>
        </p:nvSpPr>
        <p:spPr>
          <a:xfrm>
            <a:off x="7114031" y="2651760"/>
            <a:ext cx="384048" cy="228600"/>
          </a:xfrm>
          <a:prstGeom prst="rect">
            <a:avLst/>
          </a:prstGeom>
          <a:noFill/>
        </p:spPr>
        <p:txBody>
          <a:bodyPr wrap="square" lIns="0" rIns="0" tIns="0" bIns="0" anchor="t">
            <a:spAutoFit/>
          </a:bodyPr>
          <a:lstStyle/>
          <a:p>
            <a:pPr algn="r">
              <a:spcBef>
                <a:spcPts val="0"/>
              </a:spcBef>
              <a:spcAft>
                <a:spcPts val="0"/>
              </a:spcAft>
            </a:pPr>
            <a:r>
              <a:rPr sz="900" b="1" i="0">
                <a:solidFill>
                  <a:srgbClr val="D7A13A"/>
                </a:solidFill>
                <a:latin typeface="Aptos"/>
              </a:rPr>
              <a:t>03</a:t>
            </a:r>
          </a:p>
        </p:txBody>
      </p:sp>
      <p:sp>
        <p:nvSpPr>
          <p:cNvPr id="28" name="TextBox 27"/>
          <p:cNvSpPr txBox="1"/>
          <p:nvPr/>
        </p:nvSpPr>
        <p:spPr>
          <a:xfrm>
            <a:off x="4581144" y="3017520"/>
            <a:ext cx="2907792" cy="548640"/>
          </a:xfrm>
          <a:prstGeom prst="rect">
            <a:avLst/>
          </a:prstGeom>
          <a:noFill/>
        </p:spPr>
        <p:txBody>
          <a:bodyPr wrap="square" lIns="0" rIns="0" tIns="0" bIns="0">
            <a:spAutoFit/>
          </a:bodyPr>
          <a:lstStyle/>
          <a:p>
            <a:pPr>
              <a:lnSpc>
                <a:spcPct val="105000"/>
              </a:lnSpc>
              <a:spcBef>
                <a:spcPts val="0"/>
              </a:spcBef>
              <a:spcAft>
                <a:spcPts val="0"/>
              </a:spcAft>
            </a:pPr>
            <a:r>
              <a:rPr sz="1400">
                <a:solidFill>
                  <a:srgbClr val="627080"/>
                </a:solidFill>
                <a:latin typeface="Aptos"/>
              </a:rPr>
              <a:t>Growing toward the fullness of </a:t>
            </a:r>
            <a:r>
              <a:rPr sz="1400" b="1">
                <a:solidFill>
                  <a:srgbClr val="102D4D"/>
                </a:solidFill>
                <a:latin typeface="Aptos"/>
              </a:rPr>
              <a:t>God’s purpose.</a:t>
            </a:r>
          </a:p>
        </p:txBody>
      </p:sp>
      <p:sp>
        <p:nvSpPr>
          <p:cNvPr id="29" name="Rounded Rectangle 28"/>
          <p:cNvSpPr/>
          <p:nvPr/>
        </p:nvSpPr>
        <p:spPr>
          <a:xfrm>
            <a:off x="7982712" y="2487168"/>
            <a:ext cx="3383280" cy="1325880"/>
          </a:xfrm>
          <a:prstGeom prst="roundRect">
            <a:avLst>
              <a:gd name="adj" fmla="val 8000"/>
            </a:avLst>
          </a:prstGeom>
          <a:solidFill>
            <a:srgbClr val="F7F4EE"/>
          </a:solidFill>
          <a:ln w="10160">
            <a:solidFill>
              <a:srgbClr val="E4DC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11312" y="2487168"/>
            <a:ext cx="475488" cy="41148"/>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11312" y="2670048"/>
            <a:ext cx="2487168" cy="219456"/>
          </a:xfrm>
          <a:prstGeom prst="rect">
            <a:avLst/>
          </a:prstGeom>
          <a:noFill/>
        </p:spPr>
        <p:txBody>
          <a:bodyPr wrap="square" lIns="0" rIns="0" tIns="0" bIns="0" anchor="t">
            <a:spAutoFit/>
          </a:bodyPr>
          <a:lstStyle/>
          <a:p>
            <a:pPr algn="l">
              <a:spcBef>
                <a:spcPts val="0"/>
              </a:spcBef>
              <a:spcAft>
                <a:spcPts val="0"/>
              </a:spcAft>
            </a:pPr>
            <a:r>
              <a:rPr sz="1050" b="1" i="0">
                <a:solidFill>
                  <a:srgbClr val="102D4D"/>
                </a:solidFill>
                <a:latin typeface="Aptos"/>
              </a:rPr>
              <a:t>ESTEEM</a:t>
            </a:r>
          </a:p>
        </p:txBody>
      </p:sp>
      <p:sp>
        <p:nvSpPr>
          <p:cNvPr id="32" name="TextBox 31"/>
          <p:cNvSpPr txBox="1"/>
          <p:nvPr/>
        </p:nvSpPr>
        <p:spPr>
          <a:xfrm>
            <a:off x="10744200" y="2651760"/>
            <a:ext cx="384048" cy="228600"/>
          </a:xfrm>
          <a:prstGeom prst="rect">
            <a:avLst/>
          </a:prstGeom>
          <a:noFill/>
        </p:spPr>
        <p:txBody>
          <a:bodyPr wrap="square" lIns="0" rIns="0" tIns="0" bIns="0" anchor="t">
            <a:spAutoFit/>
          </a:bodyPr>
          <a:lstStyle/>
          <a:p>
            <a:pPr algn="r">
              <a:spcBef>
                <a:spcPts val="0"/>
              </a:spcBef>
              <a:spcAft>
                <a:spcPts val="0"/>
              </a:spcAft>
            </a:pPr>
            <a:r>
              <a:rPr sz="900" b="1" i="0">
                <a:solidFill>
                  <a:srgbClr val="D7A13A"/>
                </a:solidFill>
                <a:latin typeface="Aptos"/>
              </a:rPr>
              <a:t>04</a:t>
            </a:r>
          </a:p>
        </p:txBody>
      </p:sp>
      <p:sp>
        <p:nvSpPr>
          <p:cNvPr id="33" name="TextBox 32"/>
          <p:cNvSpPr txBox="1"/>
          <p:nvPr/>
        </p:nvSpPr>
        <p:spPr>
          <a:xfrm>
            <a:off x="8211312" y="3017520"/>
            <a:ext cx="2907792" cy="548640"/>
          </a:xfrm>
          <a:prstGeom prst="rect">
            <a:avLst/>
          </a:prstGeom>
          <a:noFill/>
        </p:spPr>
        <p:txBody>
          <a:bodyPr wrap="square" lIns="0" rIns="0" tIns="0" bIns="0">
            <a:spAutoFit/>
          </a:bodyPr>
          <a:lstStyle/>
          <a:p>
            <a:pPr>
              <a:lnSpc>
                <a:spcPct val="105000"/>
              </a:lnSpc>
              <a:spcBef>
                <a:spcPts val="0"/>
              </a:spcBef>
              <a:spcAft>
                <a:spcPts val="0"/>
              </a:spcAft>
            </a:pPr>
            <a:r>
              <a:rPr sz="1400">
                <a:solidFill>
                  <a:srgbClr val="627080"/>
                </a:solidFill>
                <a:latin typeface="Aptos"/>
              </a:rPr>
              <a:t>Knowing our God-given </a:t>
            </a:r>
            <a:r>
              <a:rPr sz="1400" b="1">
                <a:solidFill>
                  <a:srgbClr val="102D4D"/>
                </a:solidFill>
                <a:latin typeface="Aptos"/>
              </a:rPr>
              <a:t>value and dignity.</a:t>
            </a:r>
          </a:p>
        </p:txBody>
      </p:sp>
      <p:sp>
        <p:nvSpPr>
          <p:cNvPr id="34" name="Rounded Rectangle 33"/>
          <p:cNvSpPr/>
          <p:nvPr/>
        </p:nvSpPr>
        <p:spPr>
          <a:xfrm>
            <a:off x="4352544" y="4187952"/>
            <a:ext cx="7013448" cy="1353312"/>
          </a:xfrm>
          <a:prstGeom prst="roundRect">
            <a:avLst>
              <a:gd name="adj" fmla="val 8000"/>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17720" y="4489704"/>
            <a:ext cx="1316736" cy="310896"/>
          </a:xfrm>
          <a:prstGeom prst="rect">
            <a:avLst/>
          </a:prstGeom>
          <a:noFill/>
        </p:spPr>
        <p:txBody>
          <a:bodyPr wrap="square" lIns="0" rIns="0" tIns="0" bIns="0" anchor="ctr">
            <a:spAutoFit/>
          </a:bodyPr>
          <a:lstStyle/>
          <a:p>
            <a:pPr algn="l">
              <a:spcBef>
                <a:spcPts val="0"/>
              </a:spcBef>
              <a:spcAft>
                <a:spcPts val="0"/>
              </a:spcAft>
            </a:pPr>
            <a:r>
              <a:rPr sz="1550" b="1" i="0">
                <a:solidFill>
                  <a:srgbClr val="071A2D"/>
                </a:solidFill>
                <a:latin typeface="Aptos"/>
              </a:rPr>
              <a:t>MANIFEST</a:t>
            </a:r>
          </a:p>
        </p:txBody>
      </p:sp>
      <p:sp>
        <p:nvSpPr>
          <p:cNvPr id="36" name="Rectangle 35"/>
          <p:cNvSpPr/>
          <p:nvPr/>
        </p:nvSpPr>
        <p:spPr>
          <a:xfrm>
            <a:off x="6117336" y="4471416"/>
            <a:ext cx="14630" cy="722376"/>
          </a:xfrm>
          <a:prstGeom prst="rect">
            <a:avLst/>
          </a:prstGeom>
          <a:solidFill>
            <a:srgbClr val="A87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9944" y="4361688"/>
            <a:ext cx="4608576" cy="932688"/>
          </a:xfrm>
          <a:prstGeom prst="rect">
            <a:avLst/>
          </a:prstGeom>
          <a:noFill/>
        </p:spPr>
        <p:txBody>
          <a:bodyPr wrap="square" lIns="0" rIns="0" tIns="0" bIns="0" anchor="ctr">
            <a:spAutoFit/>
          </a:bodyPr>
          <a:lstStyle/>
          <a:p>
            <a:pPr algn="l">
              <a:spcBef>
                <a:spcPts val="0"/>
              </a:spcBef>
              <a:spcAft>
                <a:spcPts val="0"/>
              </a:spcAft>
            </a:pPr>
            <a:r>
              <a:rPr sz="1350" b="1" i="0">
                <a:solidFill>
                  <a:srgbClr val="071A2D"/>
                </a:solidFill>
                <a:latin typeface="Aptos"/>
              </a:rPr>
              <a:t>People becoming who God created them to be through the transforming power of the Gospel.</a:t>
            </a:r>
          </a:p>
        </p:txBody>
      </p:sp>
      <p:sp>
        <p:nvSpPr>
          <p:cNvPr id="38" name="TextBox 37"/>
          <p:cNvSpPr txBox="1"/>
          <p:nvPr/>
        </p:nvSpPr>
        <p:spPr>
          <a:xfrm>
            <a:off x="4370832" y="5760720"/>
            <a:ext cx="6903720" cy="310896"/>
          </a:xfrm>
          <a:prstGeom prst="rect">
            <a:avLst/>
          </a:prstGeom>
          <a:noFill/>
        </p:spPr>
        <p:txBody>
          <a:bodyPr wrap="square" lIns="0" rIns="0" tIns="0" bIns="0" anchor="ctr">
            <a:spAutoFit/>
          </a:bodyPr>
          <a:lstStyle/>
          <a:p>
            <a:pPr algn="ctr">
              <a:spcBef>
                <a:spcPts val="0"/>
              </a:spcBef>
              <a:spcAft>
                <a:spcPts val="0"/>
              </a:spcAft>
            </a:pPr>
            <a:r>
              <a:rPr sz="1120" b="0" i="1">
                <a:solidFill>
                  <a:srgbClr val="D8E1E8"/>
                </a:solidFill>
                <a:latin typeface="Aptos"/>
              </a:rPr>
              <a:t>Every programme begins with the person—not the problem.</a:t>
            </a:r>
          </a:p>
        </p:txBody>
      </p:sp>
      <p:pic>
        <p:nvPicPr>
          <p:cNvPr id="39" name="Picture 38" descr="image.png"/>
          <p:cNvPicPr>
            <a:picLocks noChangeAspect="1"/>
          </p:cNvPicPr>
          <p:nvPr/>
        </p:nvPicPr>
        <p:blipFill>
          <a:blip r:embed="rId5"/>
          <a:stretch>
            <a:fillRect/>
          </a:stretch>
        </p:blipFill>
        <p:spPr>
          <a:xfrm>
            <a:off x="11045952" y="128016"/>
            <a:ext cx="530352" cy="512064"/>
          </a:xfrm>
          <a:prstGeom prst="rect">
            <a:avLst/>
          </a:prstGeom>
        </p:spPr>
      </p:pic>
      <p:sp>
        <p:nvSpPr>
          <p:cNvPr id="40" name="TextBox 39"/>
          <p:cNvSpPr txBox="1"/>
          <p:nvPr/>
        </p:nvSpPr>
        <p:spPr>
          <a:xfrm>
            <a:off x="621792" y="6519672"/>
            <a:ext cx="3200400" cy="164592"/>
          </a:xfrm>
          <a:prstGeom prst="rect">
            <a:avLst/>
          </a:prstGeom>
          <a:noFill/>
        </p:spPr>
        <p:txBody>
          <a:bodyPr wrap="square" lIns="0" rIns="0" tIns="0" bIns="0" anchor="t">
            <a:spAutoFit/>
          </a:bodyPr>
          <a:lstStyle/>
          <a:p>
            <a:pPr algn="l">
              <a:spcBef>
                <a:spcPts val="0"/>
              </a:spcBef>
              <a:spcAft>
                <a:spcPts val="0"/>
              </a:spcAft>
            </a:pPr>
            <a:r>
              <a:rPr sz="750" b="1" i="0">
                <a:solidFill>
                  <a:srgbClr val="D8E1E8"/>
                </a:solidFill>
                <a:latin typeface="Aptos"/>
              </a:rPr>
              <a:t>MANIFEST  •  MADAGASCAR</a:t>
            </a:r>
          </a:p>
        </p:txBody>
      </p:sp>
      <p:sp>
        <p:nvSpPr>
          <p:cNvPr id="41" name="TextBox 40"/>
          <p:cNvSpPr txBox="1"/>
          <p:nvPr/>
        </p:nvSpPr>
        <p:spPr>
          <a:xfrm>
            <a:off x="11018520" y="6473952"/>
            <a:ext cx="530352" cy="228600"/>
          </a:xfrm>
          <a:prstGeom prst="rect">
            <a:avLst/>
          </a:prstGeom>
          <a:noFill/>
        </p:spPr>
        <p:txBody>
          <a:bodyPr wrap="square" lIns="0" rIns="0" tIns="0" bIns="0" anchor="t">
            <a:spAutoFit/>
          </a:bodyPr>
          <a:lstStyle/>
          <a:p>
            <a:pPr algn="r">
              <a:spcBef>
                <a:spcPts val="0"/>
              </a:spcBef>
              <a:spcAft>
                <a:spcPts val="0"/>
              </a:spcAft>
            </a:pPr>
            <a:r>
              <a:rPr sz="800" b="1" i="0">
                <a:solidFill>
                  <a:srgbClr val="D8E1E8"/>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DF9"/>
        </a:solidFill>
        <a:effectLst/>
      </p:bgPr>
    </p:bg>
    <p:spTree>
      <p:nvGrpSpPr>
        <p:cNvPr id="1" name=""/>
        <p:cNvGrpSpPr/>
        <p:nvPr/>
      </p:nvGrpSpPr>
      <p:grpSpPr/>
      <p:sp>
        <p:nvSpPr>
          <p:cNvPr id="2" name="TextBox 1"/>
          <p:cNvSpPr txBox="1"/>
          <p:nvPr/>
        </p:nvSpPr>
        <p:spPr>
          <a:xfrm>
            <a:off x="621792" y="347472"/>
            <a:ext cx="4480560" cy="201168"/>
          </a:xfrm>
          <a:prstGeom prst="rect">
            <a:avLst/>
          </a:prstGeom>
          <a:noFill/>
        </p:spPr>
        <p:txBody>
          <a:bodyPr wrap="square" lIns="0" rIns="0" tIns="0" bIns="0" anchor="t">
            <a:spAutoFit/>
          </a:bodyPr>
          <a:lstStyle/>
          <a:p>
            <a:pPr algn="l">
              <a:lnSpc>
                <a:spcPct val="100000"/>
              </a:lnSpc>
            </a:pPr>
            <a:r>
              <a:rPr sz="850" b="1" i="0">
                <a:solidFill>
                  <a:srgbClr val="D7A13A"/>
                </a:solidFill>
                <a:latin typeface="Aptos"/>
              </a:rPr>
              <a:t>WHY WE EXIST</a:t>
            </a:r>
          </a:p>
        </p:txBody>
      </p:sp>
      <p:sp>
        <p:nvSpPr>
          <p:cNvPr id="3" name="TextBox 2"/>
          <p:cNvSpPr txBox="1"/>
          <p:nvPr/>
        </p:nvSpPr>
        <p:spPr>
          <a:xfrm>
            <a:off x="621792" y="621792"/>
            <a:ext cx="10881360" cy="530352"/>
          </a:xfrm>
          <a:prstGeom prst="rect">
            <a:avLst/>
          </a:prstGeom>
          <a:noFill/>
        </p:spPr>
        <p:txBody>
          <a:bodyPr wrap="square" lIns="0" rIns="0" tIns="0" bIns="0" anchor="t">
            <a:spAutoFit/>
          </a:bodyPr>
          <a:lstStyle/>
          <a:p>
            <a:pPr algn="l">
              <a:lnSpc>
                <a:spcPct val="100000"/>
              </a:lnSpc>
            </a:pPr>
            <a:r>
              <a:rPr sz="2900" b="1" i="0">
                <a:solidFill>
                  <a:srgbClr val="102D4D"/>
                </a:solidFill>
                <a:latin typeface="Aptos Display"/>
              </a:rPr>
              <a:t>Our vision and mission</a:t>
            </a:r>
          </a:p>
        </p:txBody>
      </p:sp>
      <p:sp>
        <p:nvSpPr>
          <p:cNvPr id="4" name="Rectangle 3"/>
          <p:cNvSpPr/>
          <p:nvPr/>
        </p:nvSpPr>
        <p:spPr>
          <a:xfrm>
            <a:off x="621792" y="1170432"/>
            <a:ext cx="530352" cy="32004"/>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1792" y="1389888"/>
            <a:ext cx="5394960" cy="3383280"/>
          </a:xfrm>
          <a:prstGeom prst="roundRect">
            <a:avLst/>
          </a:prstGeom>
          <a:solidFill>
            <a:srgbClr val="10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700784"/>
            <a:ext cx="1188720" cy="265176"/>
          </a:xfrm>
          <a:prstGeom prst="rect">
            <a:avLst/>
          </a:prstGeom>
          <a:noFill/>
        </p:spPr>
        <p:txBody>
          <a:bodyPr wrap="square" lIns="0" rIns="0" tIns="0" bIns="0" anchor="t">
            <a:spAutoFit/>
          </a:bodyPr>
          <a:lstStyle/>
          <a:p>
            <a:pPr algn="l">
              <a:lnSpc>
                <a:spcPct val="100000"/>
              </a:lnSpc>
            </a:pPr>
            <a:r>
              <a:rPr sz="1000" b="1" i="0">
                <a:solidFill>
                  <a:srgbClr val="F0CC7A"/>
                </a:solidFill>
                <a:latin typeface="Aptos"/>
              </a:rPr>
              <a:t>VISION</a:t>
            </a:r>
          </a:p>
        </p:txBody>
      </p:sp>
      <p:sp>
        <p:nvSpPr>
          <p:cNvPr id="7" name="TextBox 6"/>
          <p:cNvSpPr txBox="1"/>
          <p:nvPr/>
        </p:nvSpPr>
        <p:spPr>
          <a:xfrm>
            <a:off x="932688" y="2112264"/>
            <a:ext cx="4736592" cy="2212848"/>
          </a:xfrm>
          <a:prstGeom prst="rect">
            <a:avLst/>
          </a:prstGeom>
          <a:noFill/>
        </p:spPr>
        <p:txBody>
          <a:bodyPr wrap="square" lIns="0" rIns="0" tIns="0" bIns="0" anchor="t">
            <a:spAutoFit/>
          </a:bodyPr>
          <a:lstStyle/>
          <a:p>
            <a:pPr algn="l">
              <a:lnSpc>
                <a:spcPct val="108000"/>
              </a:lnSpc>
            </a:pPr>
            <a:r>
              <a:rPr sz="1520" b="0" i="0">
                <a:solidFill>
                  <a:srgbClr val="FFFFFF"/>
                </a:solidFill>
                <a:latin typeface="Aptos"/>
              </a:rPr>
              <a:t>To see marginalised Malagasy children, young people, and families transformed by the Gospel of Jesus Christ. We envision them growing into influential leaders who know God, live abundant lives, and serve as channels of blessing to transform their communities and nation for God’s glory.</a:t>
            </a:r>
          </a:p>
        </p:txBody>
      </p:sp>
      <p:sp>
        <p:nvSpPr>
          <p:cNvPr id="8" name="Rounded Rectangle 7"/>
          <p:cNvSpPr/>
          <p:nvPr/>
        </p:nvSpPr>
        <p:spPr>
          <a:xfrm>
            <a:off x="6181344" y="1389888"/>
            <a:ext cx="5394960" cy="3383280"/>
          </a:xfrm>
          <a:prstGeom prst="roundRect">
            <a:avLst/>
          </a:prstGeom>
          <a:solidFill>
            <a:srgbClr val="F7F4EE"/>
          </a:solidFill>
          <a:ln w="10160">
            <a:solidFill>
              <a:srgbClr val="E7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700784"/>
            <a:ext cx="1280160" cy="265176"/>
          </a:xfrm>
          <a:prstGeom prst="rect">
            <a:avLst/>
          </a:prstGeom>
          <a:noFill/>
        </p:spPr>
        <p:txBody>
          <a:bodyPr wrap="square" lIns="0" rIns="0" tIns="0" bIns="0" anchor="t">
            <a:spAutoFit/>
          </a:bodyPr>
          <a:lstStyle/>
          <a:p>
            <a:pPr algn="l">
              <a:lnSpc>
                <a:spcPct val="100000"/>
              </a:lnSpc>
            </a:pPr>
            <a:r>
              <a:rPr sz="1000" b="1" i="0">
                <a:solidFill>
                  <a:srgbClr val="D7A13A"/>
                </a:solidFill>
                <a:latin typeface="Aptos"/>
              </a:rPr>
              <a:t>MISSION</a:t>
            </a:r>
          </a:p>
        </p:txBody>
      </p:sp>
      <p:sp>
        <p:nvSpPr>
          <p:cNvPr id="10" name="TextBox 9"/>
          <p:cNvSpPr txBox="1"/>
          <p:nvPr/>
        </p:nvSpPr>
        <p:spPr>
          <a:xfrm>
            <a:off x="6492240" y="2112264"/>
            <a:ext cx="4736592" cy="2212848"/>
          </a:xfrm>
          <a:prstGeom prst="rect">
            <a:avLst/>
          </a:prstGeom>
          <a:noFill/>
        </p:spPr>
        <p:txBody>
          <a:bodyPr wrap="square" lIns="0" rIns="0" tIns="0" bIns="0" anchor="t">
            <a:spAutoFit/>
          </a:bodyPr>
          <a:lstStyle/>
          <a:p>
            <a:pPr algn="l">
              <a:lnSpc>
                <a:spcPct val="106000"/>
              </a:lnSpc>
            </a:pPr>
            <a:r>
              <a:rPr sz="1450" b="0" i="0">
                <a:solidFill>
                  <a:srgbClr val="182431"/>
                </a:solidFill>
                <a:latin typeface="Aptos"/>
              </a:rPr>
              <a:t>To holistically educate, equip, and empower Malagasy children, young people, and families—starting in Bongolava, Analanjirofo, Analamanga, and Toliara. We share the Gospel and provide the foundational education, practical skills, and spiritual training they need to grow in Christ, steward their potential, live with dignity, and become catalysts for a brighter future.</a:t>
            </a:r>
          </a:p>
        </p:txBody>
      </p:sp>
      <p:pic>
        <p:nvPicPr>
          <p:cNvPr id="11" name="Picture 10" descr="why-mahambo.jpg"/>
          <p:cNvPicPr>
            <a:picLocks noChangeAspect="1"/>
          </p:cNvPicPr>
          <p:nvPr/>
        </p:nvPicPr>
        <p:blipFill>
          <a:blip r:embed="rId2"/>
          <a:srcRect t="11806" b="11806"/>
          <a:stretch>
            <a:fillRect/>
          </a:stretch>
        </p:blipFill>
        <p:spPr>
          <a:xfrm>
            <a:off x="621792" y="5056632"/>
            <a:ext cx="2615184" cy="1124712"/>
          </a:xfrm>
          <a:prstGeom prst="rect">
            <a:avLst/>
          </a:prstGeom>
        </p:spPr>
      </p:pic>
      <p:pic>
        <p:nvPicPr>
          <p:cNvPr id="12" name="Picture 11" descr="coding-01.jpg"/>
          <p:cNvPicPr>
            <a:picLocks noChangeAspect="1"/>
          </p:cNvPicPr>
          <p:nvPr/>
        </p:nvPicPr>
        <p:blipFill>
          <a:blip r:embed="rId3"/>
          <a:srcRect t="11828" b="11828"/>
          <a:stretch>
            <a:fillRect/>
          </a:stretch>
        </p:blipFill>
        <p:spPr>
          <a:xfrm>
            <a:off x="3410712" y="5056632"/>
            <a:ext cx="2615184" cy="1124712"/>
          </a:xfrm>
          <a:prstGeom prst="rect">
            <a:avLst/>
          </a:prstGeom>
        </p:spPr>
      </p:pic>
      <p:pic>
        <p:nvPicPr>
          <p:cNvPr id="13" name="Picture 12" descr="kids_ministry_bel-01.jpg"/>
          <p:cNvPicPr>
            <a:picLocks noChangeAspect="1"/>
          </p:cNvPicPr>
          <p:nvPr/>
        </p:nvPicPr>
        <p:blipFill>
          <a:blip r:embed="rId4"/>
          <a:srcRect t="11828" b="11828"/>
          <a:stretch>
            <a:fillRect/>
          </a:stretch>
        </p:blipFill>
        <p:spPr>
          <a:xfrm>
            <a:off x="6199631" y="5056632"/>
            <a:ext cx="2615184" cy="1124712"/>
          </a:xfrm>
          <a:prstGeom prst="rect">
            <a:avLst/>
          </a:prstGeom>
        </p:spPr>
      </p:pic>
      <p:pic>
        <p:nvPicPr>
          <p:cNvPr id="14" name="Picture 13" descr="serving-01.jpg"/>
          <p:cNvPicPr>
            <a:picLocks noChangeAspect="1"/>
          </p:cNvPicPr>
          <p:nvPr/>
        </p:nvPicPr>
        <p:blipFill>
          <a:blip r:embed="rId5"/>
          <a:srcRect t="11828" b="11828"/>
          <a:stretch>
            <a:fillRect/>
          </a:stretch>
        </p:blipFill>
        <p:spPr>
          <a:xfrm>
            <a:off x="8988551" y="5056632"/>
            <a:ext cx="2615184" cy="1124712"/>
          </a:xfrm>
          <a:prstGeom prst="rect">
            <a:avLst/>
          </a:prstGeom>
        </p:spPr>
      </p:pic>
      <p:sp>
        <p:nvSpPr>
          <p:cNvPr id="15" name="TextBox 14"/>
          <p:cNvSpPr txBox="1"/>
          <p:nvPr/>
        </p:nvSpPr>
        <p:spPr>
          <a:xfrm>
            <a:off x="621792" y="6519672"/>
            <a:ext cx="3200400" cy="164592"/>
          </a:xfrm>
          <a:prstGeom prst="rect">
            <a:avLst/>
          </a:prstGeom>
          <a:noFill/>
        </p:spPr>
        <p:txBody>
          <a:bodyPr wrap="square" lIns="0" rIns="0" tIns="0" bIns="0" anchor="t">
            <a:spAutoFit/>
          </a:bodyPr>
          <a:lstStyle/>
          <a:p>
            <a:pPr algn="l">
              <a:lnSpc>
                <a:spcPct val="100000"/>
              </a:lnSpc>
            </a:pPr>
            <a:r>
              <a:rPr sz="750" b="1" i="0">
                <a:solidFill>
                  <a:srgbClr val="627080"/>
                </a:solidFill>
                <a:latin typeface="Aptos"/>
              </a:rPr>
              <a:t>MANIFEST  •  MADAGASCAR</a:t>
            </a:r>
          </a:p>
        </p:txBody>
      </p:sp>
      <p:sp>
        <p:nvSpPr>
          <p:cNvPr id="16" name="TextBox 15"/>
          <p:cNvSpPr txBox="1"/>
          <p:nvPr/>
        </p:nvSpPr>
        <p:spPr>
          <a:xfrm>
            <a:off x="11018520" y="6473952"/>
            <a:ext cx="530352" cy="228600"/>
          </a:xfrm>
          <a:prstGeom prst="rect">
            <a:avLst/>
          </a:prstGeom>
          <a:noFill/>
        </p:spPr>
        <p:txBody>
          <a:bodyPr wrap="square" lIns="0" rIns="0" tIns="0" bIns="0" anchor="t">
            <a:spAutoFit/>
          </a:bodyPr>
          <a:lstStyle/>
          <a:p>
            <a:pPr algn="r">
              <a:lnSpc>
                <a:spcPct val="100000"/>
              </a:lnSpc>
            </a:pPr>
            <a:r>
              <a:rPr sz="800" b="1" i="0">
                <a:solidFill>
                  <a:srgbClr val="627080"/>
                </a:solidFill>
                <a:latin typeface="Aptos"/>
              </a:rPr>
              <a:t>06</a:t>
            </a:r>
          </a:p>
        </p:txBody>
      </p:sp>
      <p:pic>
        <p:nvPicPr>
          <p:cNvPr id="17" name="Picture 16" descr="logo-watermark.png"/>
          <p:cNvPicPr>
            <a:picLocks noChangeAspect="1"/>
          </p:cNvPicPr>
          <p:nvPr/>
        </p:nvPicPr>
        <p:blipFill>
          <a:blip r:embed="rId6"/>
          <a:stretch>
            <a:fillRect/>
          </a:stretch>
        </p:blipFill>
        <p:spPr>
          <a:xfrm>
            <a:off x="11045952" y="128016"/>
            <a:ext cx="530352" cy="51206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ality.jpg"/>
          <p:cNvPicPr>
            <a:picLocks noChangeAspect="1"/>
          </p:cNvPicPr>
          <p:nvPr/>
        </p:nvPicPr>
        <p:blipFill>
          <a:blip r:embed="rId2"/>
          <a:srcRect l="0" r="0"/>
          <a:stretch>
            <a:fillRect/>
          </a:stretch>
        </p:blipFill>
        <p:spPr>
          <a:xfrm>
            <a:off x="0" y="0"/>
            <a:ext cx="12191999" cy="6858000"/>
          </a:xfrm>
          <a:prstGeom prst="rect">
            <a:avLst/>
          </a:prstGeom>
        </p:spPr>
      </p:pic>
      <p:sp>
        <p:nvSpPr>
          <p:cNvPr id="3" name="TextBox 2"/>
          <p:cNvSpPr txBox="1"/>
          <p:nvPr/>
        </p:nvSpPr>
        <p:spPr>
          <a:xfrm>
            <a:off x="621792" y="347472"/>
            <a:ext cx="4480560" cy="201168"/>
          </a:xfrm>
          <a:prstGeom prst="rect">
            <a:avLst/>
          </a:prstGeom>
          <a:noFill/>
        </p:spPr>
        <p:txBody>
          <a:bodyPr wrap="square" lIns="0" rIns="0" tIns="0" bIns="0" anchor="t">
            <a:spAutoFit/>
          </a:bodyPr>
          <a:lstStyle/>
          <a:p>
            <a:pPr algn="l">
              <a:lnSpc>
                <a:spcPct val="100000"/>
              </a:lnSpc>
            </a:pPr>
            <a:r>
              <a:rPr sz="850" b="1" i="0">
                <a:solidFill>
                  <a:srgbClr val="F0CC7A"/>
                </a:solidFill>
                <a:latin typeface="Aptos"/>
              </a:rPr>
              <a:t>WHERE WE BEGIN</a:t>
            </a:r>
          </a:p>
        </p:txBody>
      </p:sp>
      <p:sp>
        <p:nvSpPr>
          <p:cNvPr id="4" name="TextBox 3"/>
          <p:cNvSpPr txBox="1"/>
          <p:nvPr/>
        </p:nvSpPr>
        <p:spPr>
          <a:xfrm>
            <a:off x="621792" y="621792"/>
            <a:ext cx="10881360" cy="530352"/>
          </a:xfrm>
          <a:prstGeom prst="rect">
            <a:avLst/>
          </a:prstGeom>
          <a:noFill/>
        </p:spPr>
        <p:txBody>
          <a:bodyPr wrap="square" lIns="0" rIns="0" tIns="0" bIns="0" anchor="t">
            <a:spAutoFit/>
          </a:bodyPr>
          <a:lstStyle/>
          <a:p>
            <a:pPr algn="l">
              <a:lnSpc>
                <a:spcPct val="100000"/>
              </a:lnSpc>
            </a:pPr>
            <a:r>
              <a:rPr sz="2900" b="1" i="0">
                <a:solidFill>
                  <a:srgbClr val="FFFFFF"/>
                </a:solidFill>
                <a:latin typeface="Aptos Display"/>
              </a:rPr>
              <a:t>The reality</a:t>
            </a:r>
          </a:p>
        </p:txBody>
      </p:sp>
      <p:sp>
        <p:nvSpPr>
          <p:cNvPr id="5" name="Rectangle 4"/>
          <p:cNvSpPr/>
          <p:nvPr/>
        </p:nvSpPr>
        <p:spPr>
          <a:xfrm>
            <a:off x="621792" y="1170432"/>
            <a:ext cx="530352" cy="32004"/>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463040"/>
            <a:ext cx="5084064" cy="4407408"/>
          </a:xfrm>
          <a:prstGeom prst="roundRect">
            <a:avLst/>
          </a:prstGeom>
          <a:solidFill>
            <a:srgbClr val="071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 y="1810512"/>
            <a:ext cx="4434840" cy="329184"/>
          </a:xfrm>
          <a:prstGeom prst="rect">
            <a:avLst/>
          </a:prstGeom>
          <a:noFill/>
        </p:spPr>
        <p:txBody>
          <a:bodyPr wrap="square" lIns="0" rIns="0" tIns="0" bIns="0" anchor="t">
            <a:spAutoFit/>
          </a:bodyPr>
          <a:lstStyle/>
          <a:p>
            <a:pPr algn="l">
              <a:lnSpc>
                <a:spcPct val="100000"/>
              </a:lnSpc>
            </a:pPr>
            <a:r>
              <a:rPr sz="1600" b="1" i="0">
                <a:solidFill>
                  <a:srgbClr val="F0CC7A"/>
                </a:solidFill>
                <a:latin typeface="Aptos Display"/>
              </a:rPr>
              <a:t>Every community carries challenges:</a:t>
            </a:r>
          </a:p>
        </p:txBody>
      </p:sp>
      <p:sp>
        <p:nvSpPr>
          <p:cNvPr id="8" name="Rounded Rectangle 7"/>
          <p:cNvSpPr/>
          <p:nvPr/>
        </p:nvSpPr>
        <p:spPr>
          <a:xfrm>
            <a:off x="987552" y="2414015"/>
            <a:ext cx="118872" cy="118872"/>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2331720"/>
            <a:ext cx="3977639" cy="301752"/>
          </a:xfrm>
          <a:prstGeom prst="rect">
            <a:avLst/>
          </a:prstGeom>
          <a:noFill/>
        </p:spPr>
        <p:txBody>
          <a:bodyPr wrap="square" lIns="0" rIns="0" tIns="0" bIns="0" anchor="t">
            <a:spAutoFit/>
          </a:bodyPr>
          <a:lstStyle/>
          <a:p>
            <a:pPr algn="l">
              <a:lnSpc>
                <a:spcPct val="100000"/>
              </a:lnSpc>
            </a:pPr>
            <a:r>
              <a:rPr sz="1300" b="0" i="0">
                <a:solidFill>
                  <a:srgbClr val="FFFFFF"/>
                </a:solidFill>
                <a:latin typeface="Aptos"/>
              </a:rPr>
              <a:t>Limited opportunities.</a:t>
            </a:r>
          </a:p>
        </p:txBody>
      </p:sp>
      <p:sp>
        <p:nvSpPr>
          <p:cNvPr id="10" name="Rounded Rectangle 9"/>
          <p:cNvSpPr/>
          <p:nvPr/>
        </p:nvSpPr>
        <p:spPr>
          <a:xfrm>
            <a:off x="987552" y="2980944"/>
            <a:ext cx="118872" cy="118872"/>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898648"/>
            <a:ext cx="3977639" cy="301752"/>
          </a:xfrm>
          <a:prstGeom prst="rect">
            <a:avLst/>
          </a:prstGeom>
          <a:noFill/>
        </p:spPr>
        <p:txBody>
          <a:bodyPr wrap="square" lIns="0" rIns="0" tIns="0" bIns="0" anchor="t">
            <a:spAutoFit/>
          </a:bodyPr>
          <a:lstStyle/>
          <a:p>
            <a:pPr algn="l">
              <a:lnSpc>
                <a:spcPct val="100000"/>
              </a:lnSpc>
            </a:pPr>
            <a:r>
              <a:rPr sz="1300" b="0" i="0">
                <a:solidFill>
                  <a:srgbClr val="FFFFFF"/>
                </a:solidFill>
                <a:latin typeface="Aptos"/>
              </a:rPr>
              <a:t>Interrupted education.</a:t>
            </a:r>
          </a:p>
        </p:txBody>
      </p:sp>
      <p:sp>
        <p:nvSpPr>
          <p:cNvPr id="12" name="Rounded Rectangle 11"/>
          <p:cNvSpPr/>
          <p:nvPr/>
        </p:nvSpPr>
        <p:spPr>
          <a:xfrm>
            <a:off x="987552" y="3547872"/>
            <a:ext cx="118872" cy="118872"/>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98448" y="3465576"/>
            <a:ext cx="3977639" cy="301752"/>
          </a:xfrm>
          <a:prstGeom prst="rect">
            <a:avLst/>
          </a:prstGeom>
          <a:noFill/>
        </p:spPr>
        <p:txBody>
          <a:bodyPr wrap="square" lIns="0" rIns="0" tIns="0" bIns="0" anchor="t">
            <a:spAutoFit/>
          </a:bodyPr>
          <a:lstStyle/>
          <a:p>
            <a:pPr algn="l">
              <a:lnSpc>
                <a:spcPct val="100000"/>
              </a:lnSpc>
            </a:pPr>
            <a:r>
              <a:rPr sz="1300" b="0" i="0">
                <a:solidFill>
                  <a:srgbClr val="FFFFFF"/>
                </a:solidFill>
                <a:latin typeface="Aptos"/>
              </a:rPr>
              <a:t>Unemployment and economic hardship.</a:t>
            </a:r>
          </a:p>
        </p:txBody>
      </p:sp>
      <p:sp>
        <p:nvSpPr>
          <p:cNvPr id="14" name="Rounded Rectangle 13"/>
          <p:cNvSpPr/>
          <p:nvPr/>
        </p:nvSpPr>
        <p:spPr>
          <a:xfrm>
            <a:off x="987552" y="4114800"/>
            <a:ext cx="118872" cy="118872"/>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98448" y="4032504"/>
            <a:ext cx="3977639" cy="301752"/>
          </a:xfrm>
          <a:prstGeom prst="rect">
            <a:avLst/>
          </a:prstGeom>
          <a:noFill/>
        </p:spPr>
        <p:txBody>
          <a:bodyPr wrap="square" lIns="0" rIns="0" tIns="0" bIns="0" anchor="t">
            <a:spAutoFit/>
          </a:bodyPr>
          <a:lstStyle/>
          <a:p>
            <a:pPr algn="l">
              <a:lnSpc>
                <a:spcPct val="100000"/>
              </a:lnSpc>
            </a:pPr>
            <a:r>
              <a:rPr sz="1300" b="0" i="0">
                <a:solidFill>
                  <a:srgbClr val="FFFFFF"/>
                </a:solidFill>
                <a:latin typeface="Aptos"/>
              </a:rPr>
              <a:t>Young people searching for direction.</a:t>
            </a:r>
          </a:p>
        </p:txBody>
      </p:sp>
      <p:sp>
        <p:nvSpPr>
          <p:cNvPr id="16" name="Rounded Rectangle 15"/>
          <p:cNvSpPr/>
          <p:nvPr/>
        </p:nvSpPr>
        <p:spPr>
          <a:xfrm>
            <a:off x="987552" y="4681727"/>
            <a:ext cx="118872" cy="118872"/>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4599431"/>
            <a:ext cx="3977639" cy="301752"/>
          </a:xfrm>
          <a:prstGeom prst="rect">
            <a:avLst/>
          </a:prstGeom>
          <a:noFill/>
        </p:spPr>
        <p:txBody>
          <a:bodyPr wrap="square" lIns="0" rIns="0" tIns="0" bIns="0" anchor="t">
            <a:spAutoFit/>
          </a:bodyPr>
          <a:lstStyle/>
          <a:p>
            <a:pPr algn="l">
              <a:lnSpc>
                <a:spcPct val="100000"/>
              </a:lnSpc>
            </a:pPr>
            <a:r>
              <a:rPr sz="1300" b="0" i="0">
                <a:solidFill>
                  <a:srgbClr val="FFFFFF"/>
                </a:solidFill>
                <a:latin typeface="Aptos"/>
              </a:rPr>
              <a:t>Families carrying heavy burdens.</a:t>
            </a:r>
          </a:p>
        </p:txBody>
      </p:sp>
      <p:sp>
        <p:nvSpPr>
          <p:cNvPr id="18" name="Rounded Rectangle 17"/>
          <p:cNvSpPr/>
          <p:nvPr/>
        </p:nvSpPr>
        <p:spPr>
          <a:xfrm>
            <a:off x="6126480" y="1463040"/>
            <a:ext cx="5422392" cy="4407408"/>
          </a:xfrm>
          <a:prstGeom prst="round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55664" y="1810512"/>
            <a:ext cx="4709160" cy="329184"/>
          </a:xfrm>
          <a:prstGeom prst="rect">
            <a:avLst/>
          </a:prstGeom>
          <a:noFill/>
        </p:spPr>
        <p:txBody>
          <a:bodyPr wrap="square" lIns="0" rIns="0" tIns="0" bIns="0" anchor="t">
            <a:spAutoFit/>
          </a:bodyPr>
          <a:lstStyle/>
          <a:p>
            <a:pPr algn="l">
              <a:lnSpc>
                <a:spcPct val="100000"/>
              </a:lnSpc>
            </a:pPr>
            <a:r>
              <a:rPr sz="1600" b="1" i="0">
                <a:solidFill>
                  <a:srgbClr val="102D4D"/>
                </a:solidFill>
                <a:latin typeface="Aptos Display"/>
              </a:rPr>
              <a:t>But behind every challenge is a person:</a:t>
            </a:r>
          </a:p>
        </p:txBody>
      </p:sp>
      <p:sp>
        <p:nvSpPr>
          <p:cNvPr id="20" name="Rounded Rectangle 19"/>
          <p:cNvSpPr/>
          <p:nvPr/>
        </p:nvSpPr>
        <p:spPr>
          <a:xfrm>
            <a:off x="6492240" y="2450592"/>
            <a:ext cx="521207" cy="521207"/>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2596896"/>
            <a:ext cx="484632" cy="182880"/>
          </a:xfrm>
          <a:prstGeom prst="rect">
            <a:avLst/>
          </a:prstGeom>
          <a:noFill/>
        </p:spPr>
        <p:txBody>
          <a:bodyPr wrap="square" lIns="0" rIns="0" tIns="0" bIns="0" anchor="t">
            <a:spAutoFit/>
          </a:bodyPr>
          <a:lstStyle/>
          <a:p>
            <a:pPr algn="ctr">
              <a:lnSpc>
                <a:spcPct val="100000"/>
              </a:lnSpc>
            </a:pPr>
            <a:r>
              <a:rPr sz="900" b="1" i="0">
                <a:solidFill>
                  <a:srgbClr val="071A2D"/>
                </a:solidFill>
                <a:latin typeface="Aptos"/>
              </a:rPr>
              <a:t>01</a:t>
            </a:r>
          </a:p>
        </p:txBody>
      </p:sp>
      <p:sp>
        <p:nvSpPr>
          <p:cNvPr id="22" name="TextBox 21"/>
          <p:cNvSpPr txBox="1"/>
          <p:nvPr/>
        </p:nvSpPr>
        <p:spPr>
          <a:xfrm>
            <a:off x="7242048" y="2551176"/>
            <a:ext cx="3657600" cy="292608"/>
          </a:xfrm>
          <a:prstGeom prst="rect">
            <a:avLst/>
          </a:prstGeom>
          <a:noFill/>
        </p:spPr>
        <p:txBody>
          <a:bodyPr wrap="square" lIns="0" rIns="0" tIns="0" bIns="0" anchor="t">
            <a:spAutoFit/>
          </a:bodyPr>
          <a:lstStyle/>
          <a:p>
            <a:pPr algn="l">
              <a:lnSpc>
                <a:spcPct val="100000"/>
              </a:lnSpc>
            </a:pPr>
            <a:r>
              <a:rPr sz="1520" b="1" i="0">
                <a:solidFill>
                  <a:srgbClr val="182431"/>
                </a:solidFill>
                <a:latin typeface="Aptos"/>
              </a:rPr>
              <a:t>A person with dignity.</a:t>
            </a:r>
          </a:p>
        </p:txBody>
      </p:sp>
      <p:sp>
        <p:nvSpPr>
          <p:cNvPr id="23" name="Rounded Rectangle 22"/>
          <p:cNvSpPr/>
          <p:nvPr/>
        </p:nvSpPr>
        <p:spPr>
          <a:xfrm>
            <a:off x="6492240" y="3255264"/>
            <a:ext cx="521207" cy="521207"/>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3401568"/>
            <a:ext cx="484632" cy="182880"/>
          </a:xfrm>
          <a:prstGeom prst="rect">
            <a:avLst/>
          </a:prstGeom>
          <a:noFill/>
        </p:spPr>
        <p:txBody>
          <a:bodyPr wrap="square" lIns="0" rIns="0" tIns="0" bIns="0" anchor="t">
            <a:spAutoFit/>
          </a:bodyPr>
          <a:lstStyle/>
          <a:p>
            <a:pPr algn="ctr">
              <a:lnSpc>
                <a:spcPct val="100000"/>
              </a:lnSpc>
            </a:pPr>
            <a:r>
              <a:rPr sz="900" b="1" i="0">
                <a:solidFill>
                  <a:srgbClr val="071A2D"/>
                </a:solidFill>
                <a:latin typeface="Aptos"/>
              </a:rPr>
              <a:t>02</a:t>
            </a:r>
          </a:p>
        </p:txBody>
      </p:sp>
      <p:sp>
        <p:nvSpPr>
          <p:cNvPr id="25" name="TextBox 24"/>
          <p:cNvSpPr txBox="1"/>
          <p:nvPr/>
        </p:nvSpPr>
        <p:spPr>
          <a:xfrm>
            <a:off x="7242048" y="3355848"/>
            <a:ext cx="3657600" cy="292608"/>
          </a:xfrm>
          <a:prstGeom prst="rect">
            <a:avLst/>
          </a:prstGeom>
          <a:noFill/>
        </p:spPr>
        <p:txBody>
          <a:bodyPr wrap="square" lIns="0" rIns="0" tIns="0" bIns="0" anchor="t">
            <a:spAutoFit/>
          </a:bodyPr>
          <a:lstStyle/>
          <a:p>
            <a:pPr algn="l">
              <a:lnSpc>
                <a:spcPct val="100000"/>
              </a:lnSpc>
            </a:pPr>
            <a:r>
              <a:rPr sz="1520" b="1" i="0">
                <a:solidFill>
                  <a:srgbClr val="182431"/>
                </a:solidFill>
                <a:latin typeface="Aptos"/>
              </a:rPr>
              <a:t>A person with potential.</a:t>
            </a:r>
          </a:p>
        </p:txBody>
      </p:sp>
      <p:sp>
        <p:nvSpPr>
          <p:cNvPr id="26" name="Rounded Rectangle 25"/>
          <p:cNvSpPr/>
          <p:nvPr/>
        </p:nvSpPr>
        <p:spPr>
          <a:xfrm>
            <a:off x="6492240" y="4059936"/>
            <a:ext cx="521207" cy="521207"/>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4206240"/>
            <a:ext cx="484632" cy="182880"/>
          </a:xfrm>
          <a:prstGeom prst="rect">
            <a:avLst/>
          </a:prstGeom>
          <a:noFill/>
        </p:spPr>
        <p:txBody>
          <a:bodyPr wrap="square" lIns="0" rIns="0" tIns="0" bIns="0" anchor="t">
            <a:spAutoFit/>
          </a:bodyPr>
          <a:lstStyle/>
          <a:p>
            <a:pPr algn="ctr">
              <a:lnSpc>
                <a:spcPct val="100000"/>
              </a:lnSpc>
            </a:pPr>
            <a:r>
              <a:rPr sz="900" b="1" i="0">
                <a:solidFill>
                  <a:srgbClr val="071A2D"/>
                </a:solidFill>
                <a:latin typeface="Aptos"/>
              </a:rPr>
              <a:t>03</a:t>
            </a:r>
          </a:p>
        </p:txBody>
      </p:sp>
      <p:sp>
        <p:nvSpPr>
          <p:cNvPr id="28" name="TextBox 27"/>
          <p:cNvSpPr txBox="1"/>
          <p:nvPr/>
        </p:nvSpPr>
        <p:spPr>
          <a:xfrm>
            <a:off x="7242048" y="4160520"/>
            <a:ext cx="3657600" cy="292608"/>
          </a:xfrm>
          <a:prstGeom prst="rect">
            <a:avLst/>
          </a:prstGeom>
          <a:noFill/>
        </p:spPr>
        <p:txBody>
          <a:bodyPr wrap="square" lIns="0" rIns="0" tIns="0" bIns="0" anchor="t">
            <a:spAutoFit/>
          </a:bodyPr>
          <a:lstStyle/>
          <a:p>
            <a:pPr algn="l">
              <a:lnSpc>
                <a:spcPct val="100000"/>
              </a:lnSpc>
            </a:pPr>
            <a:r>
              <a:rPr sz="1520" b="1" i="0">
                <a:solidFill>
                  <a:srgbClr val="182431"/>
                </a:solidFill>
                <a:latin typeface="Aptos"/>
              </a:rPr>
              <a:t>A person loved by God.</a:t>
            </a:r>
          </a:p>
        </p:txBody>
      </p:sp>
      <p:sp>
        <p:nvSpPr>
          <p:cNvPr id="29" name="TextBox 28"/>
          <p:cNvSpPr txBox="1"/>
          <p:nvPr/>
        </p:nvSpPr>
        <p:spPr>
          <a:xfrm>
            <a:off x="6492240" y="5029200"/>
            <a:ext cx="4526280" cy="329184"/>
          </a:xfrm>
          <a:prstGeom prst="rect">
            <a:avLst/>
          </a:prstGeom>
          <a:noFill/>
        </p:spPr>
        <p:txBody>
          <a:bodyPr wrap="square" lIns="0" rIns="0" tIns="0" bIns="0" anchor="t">
            <a:spAutoFit/>
          </a:bodyPr>
          <a:lstStyle/>
          <a:p>
            <a:pPr algn="l">
              <a:lnSpc>
                <a:spcPct val="100000"/>
              </a:lnSpc>
            </a:pPr>
            <a:r>
              <a:rPr sz="1400" b="0" i="1">
                <a:solidFill>
                  <a:srgbClr val="102D4D"/>
                </a:solidFill>
                <a:latin typeface="Aptos"/>
              </a:rPr>
              <a:t>We begin with the person—not the problem.</a:t>
            </a:r>
          </a:p>
        </p:txBody>
      </p:sp>
      <p:sp>
        <p:nvSpPr>
          <p:cNvPr id="30" name="TextBox 29"/>
          <p:cNvSpPr txBox="1"/>
          <p:nvPr/>
        </p:nvSpPr>
        <p:spPr>
          <a:xfrm>
            <a:off x="621792" y="6519672"/>
            <a:ext cx="3200400" cy="164592"/>
          </a:xfrm>
          <a:prstGeom prst="rect">
            <a:avLst/>
          </a:prstGeom>
          <a:noFill/>
        </p:spPr>
        <p:txBody>
          <a:bodyPr wrap="square" lIns="0" rIns="0" tIns="0" bIns="0" anchor="t">
            <a:spAutoFit/>
          </a:bodyPr>
          <a:lstStyle/>
          <a:p>
            <a:pPr algn="l">
              <a:lnSpc>
                <a:spcPct val="100000"/>
              </a:lnSpc>
            </a:pPr>
            <a:r>
              <a:rPr sz="750" b="1" i="0">
                <a:solidFill>
                  <a:srgbClr val="F0CC7A"/>
                </a:solidFill>
                <a:latin typeface="Aptos"/>
              </a:rPr>
              <a:t>MANIFEST  •  MADAGASCAR</a:t>
            </a:r>
          </a:p>
        </p:txBody>
      </p:sp>
      <p:sp>
        <p:nvSpPr>
          <p:cNvPr id="31" name="TextBox 30"/>
          <p:cNvSpPr txBox="1"/>
          <p:nvPr/>
        </p:nvSpPr>
        <p:spPr>
          <a:xfrm>
            <a:off x="11018520" y="6473952"/>
            <a:ext cx="530352" cy="228600"/>
          </a:xfrm>
          <a:prstGeom prst="rect">
            <a:avLst/>
          </a:prstGeom>
          <a:noFill/>
        </p:spPr>
        <p:txBody>
          <a:bodyPr wrap="square" lIns="0" rIns="0" tIns="0" bIns="0" anchor="t">
            <a:spAutoFit/>
          </a:bodyPr>
          <a:lstStyle/>
          <a:p>
            <a:pPr algn="r">
              <a:lnSpc>
                <a:spcPct val="100000"/>
              </a:lnSpc>
            </a:pPr>
            <a:r>
              <a:rPr sz="800" b="1" i="0">
                <a:solidFill>
                  <a:srgbClr val="F0CC7A"/>
                </a:solidFill>
                <a:latin typeface="Aptos"/>
              </a:rPr>
              <a:t>07</a:t>
            </a:r>
          </a:p>
        </p:txBody>
      </p:sp>
      <p:pic>
        <p:nvPicPr>
          <p:cNvPr id="32" name="Picture 31" descr="logo-watermark.png"/>
          <p:cNvPicPr>
            <a:picLocks noChangeAspect="1"/>
          </p:cNvPicPr>
          <p:nvPr/>
        </p:nvPicPr>
        <p:blipFill>
          <a:blip r:embed="rId3"/>
          <a:stretch>
            <a:fillRect/>
          </a:stretch>
        </p:blipFill>
        <p:spPr>
          <a:xfrm>
            <a:off x="11045952" y="128016"/>
            <a:ext cx="530352" cy="51206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DF9"/>
        </a:solidFill>
        <a:effectLst/>
      </p:bgPr>
    </p:bg>
    <p:spTree>
      <p:nvGrpSpPr>
        <p:cNvPr id="1" name=""/>
        <p:cNvGrpSpPr/>
        <p:nvPr/>
      </p:nvGrpSpPr>
      <p:grpSpPr/>
      <p:sp>
        <p:nvSpPr>
          <p:cNvPr id="2" name="TextBox 1"/>
          <p:cNvSpPr txBox="1"/>
          <p:nvPr/>
        </p:nvSpPr>
        <p:spPr>
          <a:xfrm>
            <a:off x="621792" y="347472"/>
            <a:ext cx="4480560" cy="201168"/>
          </a:xfrm>
          <a:prstGeom prst="rect">
            <a:avLst/>
          </a:prstGeom>
          <a:noFill/>
        </p:spPr>
        <p:txBody>
          <a:bodyPr wrap="square" lIns="0" rIns="0" tIns="0" bIns="0" anchor="t">
            <a:spAutoFit/>
          </a:bodyPr>
          <a:lstStyle/>
          <a:p>
            <a:pPr algn="l">
              <a:lnSpc>
                <a:spcPct val="100000"/>
              </a:lnSpc>
            </a:pPr>
            <a:r>
              <a:rPr sz="850" b="1" i="0">
                <a:solidFill>
                  <a:srgbClr val="D7A13A"/>
                </a:solidFill>
                <a:latin typeface="Aptos"/>
              </a:rPr>
              <a:t>OUR TRANSFORMATION PATHWAY</a:t>
            </a:r>
          </a:p>
        </p:txBody>
      </p:sp>
      <p:sp>
        <p:nvSpPr>
          <p:cNvPr id="3" name="TextBox 2"/>
          <p:cNvSpPr txBox="1"/>
          <p:nvPr/>
        </p:nvSpPr>
        <p:spPr>
          <a:xfrm>
            <a:off x="621792" y="621792"/>
            <a:ext cx="10881360" cy="530352"/>
          </a:xfrm>
          <a:prstGeom prst="rect">
            <a:avLst/>
          </a:prstGeom>
          <a:noFill/>
        </p:spPr>
        <p:txBody>
          <a:bodyPr wrap="square" lIns="0" rIns="0" tIns="0" bIns="0" anchor="t">
            <a:spAutoFit/>
          </a:bodyPr>
          <a:lstStyle/>
          <a:p>
            <a:pPr algn="l">
              <a:lnSpc>
                <a:spcPct val="100000"/>
              </a:lnSpc>
            </a:pPr>
            <a:r>
              <a:rPr sz="2900" b="1" i="0">
                <a:solidFill>
                  <a:srgbClr val="102D4D"/>
                </a:solidFill>
                <a:latin typeface="Aptos Display"/>
              </a:rPr>
              <a:t>From vision to action</a:t>
            </a:r>
          </a:p>
        </p:txBody>
      </p:sp>
      <p:sp>
        <p:nvSpPr>
          <p:cNvPr id="4" name="Rectangle 3"/>
          <p:cNvSpPr/>
          <p:nvPr/>
        </p:nvSpPr>
        <p:spPr>
          <a:xfrm>
            <a:off x="621792" y="1170432"/>
            <a:ext cx="530352" cy="32004"/>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1792" y="1399032"/>
            <a:ext cx="2267712" cy="786384"/>
          </a:xfrm>
          <a:prstGeom prst="roundRect">
            <a:avLst/>
          </a:prstGeom>
          <a:solidFill>
            <a:srgbClr val="F7F4EE"/>
          </a:solidFill>
          <a:ln w="7620">
            <a:solidFill>
              <a:srgbClr val="E7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600200"/>
            <a:ext cx="292608" cy="173736"/>
          </a:xfrm>
          <a:prstGeom prst="rect">
            <a:avLst/>
          </a:prstGeom>
          <a:noFill/>
        </p:spPr>
        <p:txBody>
          <a:bodyPr wrap="square" lIns="0" rIns="0" tIns="0" bIns="0" anchor="t">
            <a:spAutoFit/>
          </a:bodyPr>
          <a:lstStyle/>
          <a:p>
            <a:pPr algn="l">
              <a:lnSpc>
                <a:spcPct val="100000"/>
              </a:lnSpc>
            </a:pPr>
            <a:r>
              <a:rPr sz="850" b="1" i="0">
                <a:solidFill>
                  <a:srgbClr val="D7A13A"/>
                </a:solidFill>
                <a:latin typeface="Aptos"/>
              </a:rPr>
              <a:t>01</a:t>
            </a:r>
          </a:p>
        </p:txBody>
      </p:sp>
      <p:sp>
        <p:nvSpPr>
          <p:cNvPr id="7" name="TextBox 6"/>
          <p:cNvSpPr txBox="1"/>
          <p:nvPr/>
        </p:nvSpPr>
        <p:spPr>
          <a:xfrm>
            <a:off x="1097280" y="1545336"/>
            <a:ext cx="1627632" cy="438912"/>
          </a:xfrm>
          <a:prstGeom prst="rect">
            <a:avLst/>
          </a:prstGeom>
          <a:noFill/>
        </p:spPr>
        <p:txBody>
          <a:bodyPr wrap="square" lIns="0" rIns="0" tIns="0" bIns="0" anchor="t">
            <a:spAutoFit/>
          </a:bodyPr>
          <a:lstStyle/>
          <a:p>
            <a:pPr algn="l">
              <a:lnSpc>
                <a:spcPct val="100000"/>
              </a:lnSpc>
              <a:spcBef>
                <a:spcPts val="0"/>
              </a:spcBef>
              <a:spcAft>
                <a:spcPts val="0"/>
              </a:spcAft>
            </a:pPr>
            <a:r>
              <a:rPr sz="1180" b="1" i="0">
                <a:solidFill>
                  <a:srgbClr val="102D4D"/>
                </a:solidFill>
                <a:latin typeface="Aptos"/>
              </a:rPr>
              <a:t>The Gospel </a:t>
            </a:r>
            <a:r>
              <a:rPr sz="1180" b="0" i="0">
                <a:solidFill>
                  <a:srgbClr val="627080"/>
                </a:solidFill>
                <a:latin typeface="Aptos"/>
              </a:rPr>
              <a:t>is the foundation.</a:t>
            </a:r>
          </a:p>
        </p:txBody>
      </p:sp>
      <p:sp>
        <p:nvSpPr>
          <p:cNvPr id="8" name="Rounded Rectangle 7"/>
          <p:cNvSpPr/>
          <p:nvPr/>
        </p:nvSpPr>
        <p:spPr>
          <a:xfrm>
            <a:off x="3072384" y="1399032"/>
            <a:ext cx="2267712" cy="786384"/>
          </a:xfrm>
          <a:prstGeom prst="roundRect">
            <a:avLst/>
          </a:prstGeom>
          <a:solidFill>
            <a:srgbClr val="F7F4EE"/>
          </a:solidFill>
          <a:ln w="7620">
            <a:solidFill>
              <a:srgbClr val="E7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9544" y="1600200"/>
            <a:ext cx="292608" cy="173736"/>
          </a:xfrm>
          <a:prstGeom prst="rect">
            <a:avLst/>
          </a:prstGeom>
          <a:noFill/>
        </p:spPr>
        <p:txBody>
          <a:bodyPr wrap="square" lIns="0" rIns="0" tIns="0" bIns="0" anchor="t">
            <a:spAutoFit/>
          </a:bodyPr>
          <a:lstStyle/>
          <a:p>
            <a:pPr algn="l">
              <a:lnSpc>
                <a:spcPct val="100000"/>
              </a:lnSpc>
            </a:pPr>
            <a:r>
              <a:rPr sz="850" b="1" i="0">
                <a:solidFill>
                  <a:srgbClr val="D7A13A"/>
                </a:solidFill>
                <a:latin typeface="Aptos"/>
              </a:rPr>
              <a:t>02</a:t>
            </a:r>
          </a:p>
        </p:txBody>
      </p:sp>
      <p:sp>
        <p:nvSpPr>
          <p:cNvPr id="10" name="TextBox 9"/>
          <p:cNvSpPr txBox="1"/>
          <p:nvPr/>
        </p:nvSpPr>
        <p:spPr>
          <a:xfrm>
            <a:off x="3547872" y="1545336"/>
            <a:ext cx="1627632" cy="438912"/>
          </a:xfrm>
          <a:prstGeom prst="rect">
            <a:avLst/>
          </a:prstGeom>
          <a:noFill/>
        </p:spPr>
        <p:txBody>
          <a:bodyPr wrap="square" lIns="0" rIns="0" tIns="0" bIns="0" anchor="t">
            <a:spAutoFit/>
          </a:bodyPr>
          <a:lstStyle/>
          <a:p>
            <a:pPr algn="l">
              <a:lnSpc>
                <a:spcPct val="100000"/>
              </a:lnSpc>
              <a:spcBef>
                <a:spcPts val="0"/>
              </a:spcBef>
              <a:spcAft>
                <a:spcPts val="0"/>
              </a:spcAft>
            </a:pPr>
            <a:r>
              <a:rPr sz="1180" b="1" i="0">
                <a:solidFill>
                  <a:srgbClr val="102D4D"/>
                </a:solidFill>
                <a:latin typeface="Aptos"/>
              </a:rPr>
              <a:t>Transformation </a:t>
            </a:r>
            <a:r>
              <a:rPr sz="1180" b="0" i="0">
                <a:solidFill>
                  <a:srgbClr val="627080"/>
                </a:solidFill>
                <a:latin typeface="Aptos"/>
              </a:rPr>
              <a:t>is the goal.</a:t>
            </a:r>
          </a:p>
        </p:txBody>
      </p:sp>
      <p:sp>
        <p:nvSpPr>
          <p:cNvPr id="11" name="Rounded Rectangle 10"/>
          <p:cNvSpPr/>
          <p:nvPr/>
        </p:nvSpPr>
        <p:spPr>
          <a:xfrm>
            <a:off x="5522976" y="1399032"/>
            <a:ext cx="2267712" cy="786384"/>
          </a:xfrm>
          <a:prstGeom prst="roundRect">
            <a:avLst/>
          </a:prstGeom>
          <a:solidFill>
            <a:srgbClr val="F7F4EE"/>
          </a:solidFill>
          <a:ln w="7620">
            <a:solidFill>
              <a:srgbClr val="E7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0136" y="1600200"/>
            <a:ext cx="292608" cy="173736"/>
          </a:xfrm>
          <a:prstGeom prst="rect">
            <a:avLst/>
          </a:prstGeom>
          <a:noFill/>
        </p:spPr>
        <p:txBody>
          <a:bodyPr wrap="square" lIns="0" rIns="0" tIns="0" bIns="0" anchor="t">
            <a:spAutoFit/>
          </a:bodyPr>
          <a:lstStyle/>
          <a:p>
            <a:pPr algn="l">
              <a:lnSpc>
                <a:spcPct val="100000"/>
              </a:lnSpc>
            </a:pPr>
            <a:r>
              <a:rPr sz="850" b="1" i="0">
                <a:solidFill>
                  <a:srgbClr val="D7A13A"/>
                </a:solidFill>
                <a:latin typeface="Aptos"/>
              </a:rPr>
              <a:t>03</a:t>
            </a:r>
          </a:p>
        </p:txBody>
      </p:sp>
      <p:sp>
        <p:nvSpPr>
          <p:cNvPr id="13" name="TextBox 12"/>
          <p:cNvSpPr txBox="1"/>
          <p:nvPr/>
        </p:nvSpPr>
        <p:spPr>
          <a:xfrm>
            <a:off x="5998464" y="1545336"/>
            <a:ext cx="1627632" cy="438912"/>
          </a:xfrm>
          <a:prstGeom prst="rect">
            <a:avLst/>
          </a:prstGeom>
          <a:noFill/>
        </p:spPr>
        <p:txBody>
          <a:bodyPr wrap="square" lIns="0" rIns="0" tIns="0" bIns="0" anchor="t">
            <a:spAutoFit/>
          </a:bodyPr>
          <a:lstStyle/>
          <a:p>
            <a:pPr algn="l">
              <a:lnSpc>
                <a:spcPct val="100000"/>
              </a:lnSpc>
              <a:spcBef>
                <a:spcPts val="0"/>
              </a:spcBef>
              <a:spcAft>
                <a:spcPts val="0"/>
              </a:spcAft>
            </a:pPr>
            <a:r>
              <a:rPr sz="1180" b="1" i="0">
                <a:solidFill>
                  <a:srgbClr val="102D4D"/>
                </a:solidFill>
                <a:latin typeface="Aptos"/>
              </a:rPr>
              <a:t>Equipping people </a:t>
            </a:r>
            <a:r>
              <a:rPr sz="1180" b="0" i="0">
                <a:solidFill>
                  <a:srgbClr val="627080"/>
                </a:solidFill>
                <a:latin typeface="Aptos"/>
              </a:rPr>
              <a:t>is the pathway.</a:t>
            </a:r>
          </a:p>
        </p:txBody>
      </p:sp>
      <p:sp>
        <p:nvSpPr>
          <p:cNvPr id="14" name="Rounded Rectangle 13"/>
          <p:cNvSpPr/>
          <p:nvPr/>
        </p:nvSpPr>
        <p:spPr>
          <a:xfrm>
            <a:off x="621792" y="2679192"/>
            <a:ext cx="960120" cy="603504"/>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871216"/>
            <a:ext cx="886968" cy="173736"/>
          </a:xfrm>
          <a:prstGeom prst="rect">
            <a:avLst/>
          </a:prstGeom>
          <a:noFill/>
        </p:spPr>
        <p:txBody>
          <a:bodyPr wrap="square" lIns="0" rIns="0" tIns="0" bIns="0" anchor="t">
            <a:spAutoFit/>
          </a:bodyPr>
          <a:lstStyle/>
          <a:p>
            <a:pPr algn="ctr">
              <a:lnSpc>
                <a:spcPct val="100000"/>
              </a:lnSpc>
            </a:pPr>
            <a:r>
              <a:rPr sz="1000" b="1" i="0">
                <a:solidFill>
                  <a:srgbClr val="071A2D"/>
                </a:solidFill>
                <a:latin typeface="Aptos"/>
              </a:rPr>
              <a:t>FAITH</a:t>
            </a:r>
          </a:p>
        </p:txBody>
      </p:sp>
      <p:sp>
        <p:nvSpPr>
          <p:cNvPr id="16" name="TextBox 15"/>
          <p:cNvSpPr txBox="1"/>
          <p:nvPr/>
        </p:nvSpPr>
        <p:spPr>
          <a:xfrm>
            <a:off x="1591056" y="2798064"/>
            <a:ext cx="201168" cy="256032"/>
          </a:xfrm>
          <a:prstGeom prst="rect">
            <a:avLst/>
          </a:prstGeom>
          <a:noFill/>
        </p:spPr>
        <p:txBody>
          <a:bodyPr wrap="square" lIns="0" rIns="0" tIns="0" bIns="0" anchor="t">
            <a:spAutoFit/>
          </a:bodyPr>
          <a:lstStyle/>
          <a:p>
            <a:pPr algn="ctr">
              <a:lnSpc>
                <a:spcPct val="100000"/>
              </a:lnSpc>
            </a:pPr>
            <a:r>
              <a:rPr sz="1800" b="1" i="0">
                <a:solidFill>
                  <a:srgbClr val="D7A13A"/>
                </a:solidFill>
                <a:latin typeface="Aptos"/>
              </a:rPr>
              <a:t>›</a:t>
            </a:r>
          </a:p>
        </p:txBody>
      </p:sp>
      <p:sp>
        <p:nvSpPr>
          <p:cNvPr id="17" name="Rounded Rectangle 16"/>
          <p:cNvSpPr/>
          <p:nvPr/>
        </p:nvSpPr>
        <p:spPr>
          <a:xfrm>
            <a:off x="1801368" y="2679192"/>
            <a:ext cx="1133856" cy="603504"/>
          </a:xfrm>
          <a:prstGeom prst="roundRect">
            <a:avLst/>
          </a:prstGeom>
          <a:solidFill>
            <a:srgbClr val="10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37944" y="2871216"/>
            <a:ext cx="1060704" cy="173736"/>
          </a:xfrm>
          <a:prstGeom prst="rect">
            <a:avLst/>
          </a:prstGeom>
          <a:noFill/>
        </p:spPr>
        <p:txBody>
          <a:bodyPr wrap="square" lIns="0" rIns="0" tIns="0" bIns="0" anchor="t">
            <a:spAutoFit/>
          </a:bodyPr>
          <a:lstStyle/>
          <a:p>
            <a:pPr algn="ctr">
              <a:lnSpc>
                <a:spcPct val="100000"/>
              </a:lnSpc>
            </a:pPr>
            <a:r>
              <a:rPr sz="1000" b="1" i="0">
                <a:solidFill>
                  <a:srgbClr val="FFFFFF"/>
                </a:solidFill>
                <a:latin typeface="Aptos"/>
              </a:rPr>
              <a:t>CHARACTER</a:t>
            </a:r>
          </a:p>
        </p:txBody>
      </p:sp>
      <p:sp>
        <p:nvSpPr>
          <p:cNvPr id="19" name="TextBox 18"/>
          <p:cNvSpPr txBox="1"/>
          <p:nvPr/>
        </p:nvSpPr>
        <p:spPr>
          <a:xfrm>
            <a:off x="2944368" y="2798064"/>
            <a:ext cx="201168" cy="256032"/>
          </a:xfrm>
          <a:prstGeom prst="rect">
            <a:avLst/>
          </a:prstGeom>
          <a:noFill/>
        </p:spPr>
        <p:txBody>
          <a:bodyPr wrap="square" lIns="0" rIns="0" tIns="0" bIns="0" anchor="t">
            <a:spAutoFit/>
          </a:bodyPr>
          <a:lstStyle/>
          <a:p>
            <a:pPr algn="ctr">
              <a:lnSpc>
                <a:spcPct val="100000"/>
              </a:lnSpc>
            </a:pPr>
            <a:r>
              <a:rPr sz="1800" b="1" i="0">
                <a:solidFill>
                  <a:srgbClr val="D7A13A"/>
                </a:solidFill>
                <a:latin typeface="Aptos"/>
              </a:rPr>
              <a:t>›</a:t>
            </a:r>
          </a:p>
        </p:txBody>
      </p:sp>
      <p:sp>
        <p:nvSpPr>
          <p:cNvPr id="20" name="Rounded Rectangle 19"/>
          <p:cNvSpPr/>
          <p:nvPr/>
        </p:nvSpPr>
        <p:spPr>
          <a:xfrm>
            <a:off x="3154680" y="2679192"/>
            <a:ext cx="1216152" cy="603504"/>
          </a:xfrm>
          <a:prstGeom prst="roundRect">
            <a:avLst/>
          </a:prstGeom>
          <a:solidFill>
            <a:srgbClr val="10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91256" y="2871216"/>
            <a:ext cx="1143000" cy="173736"/>
          </a:xfrm>
          <a:prstGeom prst="rect">
            <a:avLst/>
          </a:prstGeom>
          <a:noFill/>
        </p:spPr>
        <p:txBody>
          <a:bodyPr wrap="square" lIns="0" rIns="0" tIns="0" bIns="0" anchor="t">
            <a:spAutoFit/>
          </a:bodyPr>
          <a:lstStyle/>
          <a:p>
            <a:pPr algn="ctr">
              <a:lnSpc>
                <a:spcPct val="100000"/>
              </a:lnSpc>
            </a:pPr>
            <a:r>
              <a:rPr sz="1000" b="1" i="0">
                <a:solidFill>
                  <a:srgbClr val="FFFFFF"/>
                </a:solidFill>
                <a:latin typeface="Aptos"/>
              </a:rPr>
              <a:t>KNOWLEDGE</a:t>
            </a:r>
          </a:p>
        </p:txBody>
      </p:sp>
      <p:sp>
        <p:nvSpPr>
          <p:cNvPr id="22" name="TextBox 21"/>
          <p:cNvSpPr txBox="1"/>
          <p:nvPr/>
        </p:nvSpPr>
        <p:spPr>
          <a:xfrm>
            <a:off x="4379976" y="2798064"/>
            <a:ext cx="201168" cy="256032"/>
          </a:xfrm>
          <a:prstGeom prst="rect">
            <a:avLst/>
          </a:prstGeom>
          <a:noFill/>
        </p:spPr>
        <p:txBody>
          <a:bodyPr wrap="square" lIns="0" rIns="0" tIns="0" bIns="0" anchor="t">
            <a:spAutoFit/>
          </a:bodyPr>
          <a:lstStyle/>
          <a:p>
            <a:pPr algn="ctr">
              <a:lnSpc>
                <a:spcPct val="100000"/>
              </a:lnSpc>
            </a:pPr>
            <a:r>
              <a:rPr sz="1800" b="1" i="0">
                <a:solidFill>
                  <a:srgbClr val="D7A13A"/>
                </a:solidFill>
                <a:latin typeface="Aptos"/>
              </a:rPr>
              <a:t>›</a:t>
            </a:r>
          </a:p>
        </p:txBody>
      </p:sp>
      <p:sp>
        <p:nvSpPr>
          <p:cNvPr id="23" name="Rounded Rectangle 22"/>
          <p:cNvSpPr/>
          <p:nvPr/>
        </p:nvSpPr>
        <p:spPr>
          <a:xfrm>
            <a:off x="4590288" y="2679192"/>
            <a:ext cx="896112" cy="603504"/>
          </a:xfrm>
          <a:prstGeom prst="roundRect">
            <a:avLst/>
          </a:prstGeom>
          <a:solidFill>
            <a:srgbClr val="10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26864" y="2871216"/>
            <a:ext cx="822960" cy="173736"/>
          </a:xfrm>
          <a:prstGeom prst="rect">
            <a:avLst/>
          </a:prstGeom>
          <a:noFill/>
        </p:spPr>
        <p:txBody>
          <a:bodyPr wrap="square" lIns="0" rIns="0" tIns="0" bIns="0" anchor="t">
            <a:spAutoFit/>
          </a:bodyPr>
          <a:lstStyle/>
          <a:p>
            <a:pPr algn="ctr">
              <a:lnSpc>
                <a:spcPct val="100000"/>
              </a:lnSpc>
            </a:pPr>
            <a:r>
              <a:rPr sz="1000" b="1" i="0">
                <a:solidFill>
                  <a:srgbClr val="FFFFFF"/>
                </a:solidFill>
                <a:latin typeface="Aptos"/>
              </a:rPr>
              <a:t>SKILLS</a:t>
            </a:r>
          </a:p>
        </p:txBody>
      </p:sp>
      <p:sp>
        <p:nvSpPr>
          <p:cNvPr id="25" name="TextBox 24"/>
          <p:cNvSpPr txBox="1"/>
          <p:nvPr/>
        </p:nvSpPr>
        <p:spPr>
          <a:xfrm>
            <a:off x="5495544" y="2798064"/>
            <a:ext cx="201168" cy="256032"/>
          </a:xfrm>
          <a:prstGeom prst="rect">
            <a:avLst/>
          </a:prstGeom>
          <a:noFill/>
        </p:spPr>
        <p:txBody>
          <a:bodyPr wrap="square" lIns="0" rIns="0" tIns="0" bIns="0" anchor="t">
            <a:spAutoFit/>
          </a:bodyPr>
          <a:lstStyle/>
          <a:p>
            <a:pPr algn="ctr">
              <a:lnSpc>
                <a:spcPct val="100000"/>
              </a:lnSpc>
            </a:pPr>
            <a:r>
              <a:rPr sz="1800" b="1" i="0">
                <a:solidFill>
                  <a:srgbClr val="D7A13A"/>
                </a:solidFill>
                <a:latin typeface="Aptos"/>
              </a:rPr>
              <a:t>›</a:t>
            </a:r>
          </a:p>
        </p:txBody>
      </p:sp>
      <p:sp>
        <p:nvSpPr>
          <p:cNvPr id="26" name="Rounded Rectangle 25"/>
          <p:cNvSpPr/>
          <p:nvPr/>
        </p:nvSpPr>
        <p:spPr>
          <a:xfrm>
            <a:off x="5705856" y="2679192"/>
            <a:ext cx="1353312" cy="603504"/>
          </a:xfrm>
          <a:prstGeom prst="roundRect">
            <a:avLst/>
          </a:prstGeom>
          <a:solidFill>
            <a:srgbClr val="10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42432" y="2871216"/>
            <a:ext cx="1280160" cy="173736"/>
          </a:xfrm>
          <a:prstGeom prst="rect">
            <a:avLst/>
          </a:prstGeom>
          <a:noFill/>
        </p:spPr>
        <p:txBody>
          <a:bodyPr wrap="square" lIns="0" rIns="0" tIns="0" bIns="0" anchor="t">
            <a:spAutoFit/>
          </a:bodyPr>
          <a:lstStyle/>
          <a:p>
            <a:pPr algn="ctr">
              <a:lnSpc>
                <a:spcPct val="100000"/>
              </a:lnSpc>
            </a:pPr>
            <a:r>
              <a:rPr sz="819" b="1" i="0">
                <a:solidFill>
                  <a:srgbClr val="FFFFFF"/>
                </a:solidFill>
                <a:latin typeface="Aptos"/>
              </a:rPr>
              <a:t>RESPONSIBILITY</a:t>
            </a:r>
          </a:p>
        </p:txBody>
      </p:sp>
      <p:sp>
        <p:nvSpPr>
          <p:cNvPr id="28" name="TextBox 27"/>
          <p:cNvSpPr txBox="1"/>
          <p:nvPr/>
        </p:nvSpPr>
        <p:spPr>
          <a:xfrm>
            <a:off x="7068312" y="2798064"/>
            <a:ext cx="201168" cy="256032"/>
          </a:xfrm>
          <a:prstGeom prst="rect">
            <a:avLst/>
          </a:prstGeom>
          <a:noFill/>
        </p:spPr>
        <p:txBody>
          <a:bodyPr wrap="square" lIns="0" rIns="0" tIns="0" bIns="0" anchor="t">
            <a:spAutoFit/>
          </a:bodyPr>
          <a:lstStyle/>
          <a:p>
            <a:pPr algn="ctr">
              <a:lnSpc>
                <a:spcPct val="100000"/>
              </a:lnSpc>
            </a:pPr>
            <a:r>
              <a:rPr sz="1800" b="1" i="0">
                <a:solidFill>
                  <a:srgbClr val="D7A13A"/>
                </a:solidFill>
                <a:latin typeface="Aptos"/>
              </a:rPr>
              <a:t>›</a:t>
            </a:r>
          </a:p>
        </p:txBody>
      </p:sp>
      <p:sp>
        <p:nvSpPr>
          <p:cNvPr id="29" name="Rounded Rectangle 28"/>
          <p:cNvSpPr/>
          <p:nvPr/>
        </p:nvSpPr>
        <p:spPr>
          <a:xfrm>
            <a:off x="7278624" y="2679192"/>
            <a:ext cx="914400" cy="603504"/>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0" y="2871216"/>
            <a:ext cx="841248" cy="173736"/>
          </a:xfrm>
          <a:prstGeom prst="rect">
            <a:avLst/>
          </a:prstGeom>
          <a:noFill/>
        </p:spPr>
        <p:txBody>
          <a:bodyPr wrap="square" lIns="0" rIns="0" tIns="0" bIns="0" anchor="t">
            <a:spAutoFit/>
          </a:bodyPr>
          <a:lstStyle/>
          <a:p>
            <a:pPr algn="ctr">
              <a:lnSpc>
                <a:spcPct val="100000"/>
              </a:lnSpc>
            </a:pPr>
            <a:r>
              <a:rPr sz="1000" b="1" i="0">
                <a:solidFill>
                  <a:srgbClr val="071A2D"/>
                </a:solidFill>
                <a:latin typeface="Aptos"/>
              </a:rPr>
              <a:t>IMPACT</a:t>
            </a:r>
          </a:p>
        </p:txBody>
      </p:sp>
      <p:cxnSp>
        <p:nvCxnSpPr>
          <p:cNvPr id="31" name="Connector 30"/>
          <p:cNvCxnSpPr/>
          <p:nvPr/>
        </p:nvCxnSpPr>
        <p:spPr>
          <a:xfrm>
            <a:off x="7735824" y="3282696"/>
            <a:ext cx="0" cy="420624"/>
          </a:xfrm>
          <a:prstGeom prst="line">
            <a:avLst/>
          </a:prstGeom>
          <a:ln w="25400">
            <a:solidFill>
              <a:srgbClr val="D7A13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21792" y="3767328"/>
            <a:ext cx="1600200" cy="621792"/>
          </a:xfrm>
          <a:prstGeom prst="roundRect">
            <a:avLst/>
          </a:prstGeom>
          <a:solidFill>
            <a:srgbClr val="EAF0F5"/>
          </a:solidFill>
          <a:ln w="8890">
            <a:solidFill>
              <a:srgbClr val="CB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944" y="3968496"/>
            <a:ext cx="1453896" cy="182880"/>
          </a:xfrm>
          <a:prstGeom prst="rect">
            <a:avLst/>
          </a:prstGeom>
          <a:noFill/>
        </p:spPr>
        <p:txBody>
          <a:bodyPr wrap="square" lIns="0" rIns="0" tIns="0" bIns="0" anchor="t">
            <a:spAutoFit/>
          </a:bodyPr>
          <a:lstStyle/>
          <a:p>
            <a:pPr algn="ctr">
              <a:lnSpc>
                <a:spcPct val="100000"/>
              </a:lnSpc>
            </a:pPr>
            <a:r>
              <a:rPr sz="1000" b="1" i="0">
                <a:solidFill>
                  <a:srgbClr val="102D4D"/>
                </a:solidFill>
                <a:latin typeface="Aptos"/>
              </a:rPr>
              <a:t>PERSONAL</a:t>
            </a:r>
          </a:p>
        </p:txBody>
      </p:sp>
      <p:sp>
        <p:nvSpPr>
          <p:cNvPr id="34" name="Rounded Rectangle 33"/>
          <p:cNvSpPr/>
          <p:nvPr/>
        </p:nvSpPr>
        <p:spPr>
          <a:xfrm>
            <a:off x="2496312" y="3767328"/>
            <a:ext cx="1600200" cy="621792"/>
          </a:xfrm>
          <a:prstGeom prst="roundRect">
            <a:avLst/>
          </a:prstGeom>
          <a:solidFill>
            <a:srgbClr val="EAF0F5"/>
          </a:solidFill>
          <a:ln w="8890">
            <a:solidFill>
              <a:srgbClr val="CB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69464" y="3968496"/>
            <a:ext cx="1453896" cy="182880"/>
          </a:xfrm>
          <a:prstGeom prst="rect">
            <a:avLst/>
          </a:prstGeom>
          <a:noFill/>
        </p:spPr>
        <p:txBody>
          <a:bodyPr wrap="square" lIns="0" rIns="0" tIns="0" bIns="0" anchor="t">
            <a:spAutoFit/>
          </a:bodyPr>
          <a:lstStyle/>
          <a:p>
            <a:pPr algn="ctr">
              <a:lnSpc>
                <a:spcPct val="100000"/>
              </a:lnSpc>
            </a:pPr>
            <a:r>
              <a:rPr sz="1000" b="1" i="0">
                <a:solidFill>
                  <a:srgbClr val="102D4D"/>
                </a:solidFill>
                <a:latin typeface="Aptos"/>
              </a:rPr>
              <a:t>FAMILY</a:t>
            </a:r>
          </a:p>
        </p:txBody>
      </p:sp>
      <p:sp>
        <p:nvSpPr>
          <p:cNvPr id="36" name="Rounded Rectangle 35"/>
          <p:cNvSpPr/>
          <p:nvPr/>
        </p:nvSpPr>
        <p:spPr>
          <a:xfrm>
            <a:off x="4370832" y="3767328"/>
            <a:ext cx="1600200" cy="621792"/>
          </a:xfrm>
          <a:prstGeom prst="roundRect">
            <a:avLst/>
          </a:prstGeom>
          <a:solidFill>
            <a:srgbClr val="EAF0F5"/>
          </a:solidFill>
          <a:ln w="8890">
            <a:solidFill>
              <a:srgbClr val="CB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43984" y="3968496"/>
            <a:ext cx="1453896" cy="182880"/>
          </a:xfrm>
          <a:prstGeom prst="rect">
            <a:avLst/>
          </a:prstGeom>
          <a:noFill/>
        </p:spPr>
        <p:txBody>
          <a:bodyPr wrap="square" lIns="0" rIns="0" tIns="0" bIns="0" anchor="t">
            <a:spAutoFit/>
          </a:bodyPr>
          <a:lstStyle/>
          <a:p>
            <a:pPr algn="ctr">
              <a:lnSpc>
                <a:spcPct val="100000"/>
              </a:lnSpc>
            </a:pPr>
            <a:r>
              <a:rPr sz="1000" b="1" i="0">
                <a:solidFill>
                  <a:srgbClr val="102D4D"/>
                </a:solidFill>
                <a:latin typeface="Aptos"/>
              </a:rPr>
              <a:t>COMMUNITY</a:t>
            </a:r>
          </a:p>
        </p:txBody>
      </p:sp>
      <p:sp>
        <p:nvSpPr>
          <p:cNvPr id="38" name="Rounded Rectangle 37"/>
          <p:cNvSpPr/>
          <p:nvPr/>
        </p:nvSpPr>
        <p:spPr>
          <a:xfrm>
            <a:off x="6245352" y="3767328"/>
            <a:ext cx="1600200" cy="621792"/>
          </a:xfrm>
          <a:prstGeom prst="roundRect">
            <a:avLst/>
          </a:prstGeom>
          <a:solidFill>
            <a:srgbClr val="EAF0F5"/>
          </a:solidFill>
          <a:ln w="8890">
            <a:solidFill>
              <a:srgbClr val="CB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18504" y="3968496"/>
            <a:ext cx="1453896" cy="182880"/>
          </a:xfrm>
          <a:prstGeom prst="rect">
            <a:avLst/>
          </a:prstGeom>
          <a:noFill/>
        </p:spPr>
        <p:txBody>
          <a:bodyPr wrap="square" lIns="0" rIns="0" tIns="0" bIns="0" anchor="t">
            <a:spAutoFit/>
          </a:bodyPr>
          <a:lstStyle/>
          <a:p>
            <a:pPr algn="ctr">
              <a:lnSpc>
                <a:spcPct val="100000"/>
              </a:lnSpc>
            </a:pPr>
            <a:r>
              <a:rPr sz="1000" b="1" i="0">
                <a:solidFill>
                  <a:srgbClr val="102D4D"/>
                </a:solidFill>
                <a:latin typeface="Aptos"/>
              </a:rPr>
              <a:t>NATION</a:t>
            </a:r>
          </a:p>
        </p:txBody>
      </p:sp>
      <p:sp>
        <p:nvSpPr>
          <p:cNvPr id="40" name="TextBox 39"/>
          <p:cNvSpPr txBox="1"/>
          <p:nvPr/>
        </p:nvSpPr>
        <p:spPr>
          <a:xfrm>
            <a:off x="621792" y="4818888"/>
            <a:ext cx="7452360" cy="411480"/>
          </a:xfrm>
          <a:prstGeom prst="rect">
            <a:avLst/>
          </a:prstGeom>
          <a:noFill/>
        </p:spPr>
        <p:txBody>
          <a:bodyPr wrap="square" lIns="0" rIns="0" tIns="0" bIns="0" anchor="t">
            <a:spAutoFit/>
          </a:bodyPr>
          <a:lstStyle/>
          <a:p>
            <a:pPr algn="l">
              <a:lnSpc>
                <a:spcPct val="100000"/>
              </a:lnSpc>
            </a:pPr>
            <a:r>
              <a:rPr sz="1900" b="1" i="0">
                <a:solidFill>
                  <a:srgbClr val="102D4D"/>
                </a:solidFill>
                <a:latin typeface="Aptos Display"/>
              </a:rPr>
              <a:t>From transformed lives to transformed communities.</a:t>
            </a:r>
          </a:p>
        </p:txBody>
      </p:sp>
      <p:sp>
        <p:nvSpPr>
          <p:cNvPr id="41" name="TextBox 40"/>
          <p:cNvSpPr txBox="1"/>
          <p:nvPr/>
        </p:nvSpPr>
        <p:spPr>
          <a:xfrm>
            <a:off x="621792" y="5358384"/>
            <a:ext cx="7360920" cy="548640"/>
          </a:xfrm>
          <a:prstGeom prst="rect">
            <a:avLst/>
          </a:prstGeom>
          <a:noFill/>
        </p:spPr>
        <p:txBody>
          <a:bodyPr wrap="square" lIns="0" rIns="0" tIns="0" bIns="0" anchor="t">
            <a:spAutoFit/>
          </a:bodyPr>
          <a:lstStyle/>
          <a:p>
            <a:pPr algn="l">
              <a:lnSpc>
                <a:spcPct val="100000"/>
              </a:lnSpc>
            </a:pPr>
            <a:r>
              <a:rPr sz="1350" b="0" i="0">
                <a:solidFill>
                  <a:srgbClr val="627080"/>
                </a:solidFill>
                <a:latin typeface="Aptos"/>
              </a:rPr>
              <a:t>Faith shapes character. Knowledge becomes skill. Responsibility produces impact.</a:t>
            </a:r>
          </a:p>
        </p:txBody>
      </p:sp>
      <p:sp>
        <p:nvSpPr>
          <p:cNvPr id="42" name="Rounded Rectangle 41"/>
          <p:cNvSpPr/>
          <p:nvPr/>
        </p:nvSpPr>
        <p:spPr>
          <a:xfrm>
            <a:off x="8439912" y="1389888"/>
            <a:ext cx="3136392" cy="4846320"/>
          </a:xfrm>
          <a:prstGeom prst="roundRect">
            <a:avLst/>
          </a:prstGeom>
          <a:solidFill>
            <a:srgbClr val="10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serving-01.jpg"/>
          <p:cNvPicPr>
            <a:picLocks noChangeAspect="1"/>
          </p:cNvPicPr>
          <p:nvPr/>
        </p:nvPicPr>
        <p:blipFill>
          <a:blip r:embed="rId2"/>
          <a:srcRect l="22785" r="22785"/>
          <a:stretch>
            <a:fillRect/>
          </a:stretch>
        </p:blipFill>
        <p:spPr>
          <a:xfrm>
            <a:off x="8439912" y="1389888"/>
            <a:ext cx="3136392" cy="3246120"/>
          </a:xfrm>
          <a:prstGeom prst="rect">
            <a:avLst/>
          </a:prstGeom>
        </p:spPr>
      </p:pic>
      <p:sp>
        <p:nvSpPr>
          <p:cNvPr id="44" name="TextBox 43"/>
          <p:cNvSpPr txBox="1"/>
          <p:nvPr/>
        </p:nvSpPr>
        <p:spPr>
          <a:xfrm>
            <a:off x="8723376" y="4919472"/>
            <a:ext cx="2569464" cy="713232"/>
          </a:xfrm>
          <a:prstGeom prst="rect">
            <a:avLst/>
          </a:prstGeom>
          <a:noFill/>
        </p:spPr>
        <p:txBody>
          <a:bodyPr wrap="square" lIns="0" rIns="0" tIns="0" bIns="0" anchor="t">
            <a:spAutoFit/>
          </a:bodyPr>
          <a:lstStyle/>
          <a:p>
            <a:pPr algn="ctr">
              <a:lnSpc>
                <a:spcPct val="100000"/>
              </a:lnSpc>
            </a:pPr>
            <a:r>
              <a:rPr sz="1600" b="1" i="0">
                <a:solidFill>
                  <a:srgbClr val="F0CC7A"/>
                </a:solidFill>
                <a:latin typeface="Aptos Display"/>
              </a:rPr>
              <a:t>TRANSFORMATION
MULTIPLIED</a:t>
            </a:r>
          </a:p>
        </p:txBody>
      </p:sp>
      <p:sp>
        <p:nvSpPr>
          <p:cNvPr id="45" name="TextBox 44"/>
          <p:cNvSpPr txBox="1"/>
          <p:nvPr/>
        </p:nvSpPr>
        <p:spPr>
          <a:xfrm>
            <a:off x="8705088" y="5687568"/>
            <a:ext cx="2606040" cy="274320"/>
          </a:xfrm>
          <a:prstGeom prst="rect">
            <a:avLst/>
          </a:prstGeom>
          <a:noFill/>
        </p:spPr>
        <p:txBody>
          <a:bodyPr wrap="square" lIns="0" rIns="0" tIns="0" bIns="0" anchor="t">
            <a:spAutoFit/>
          </a:bodyPr>
          <a:lstStyle/>
          <a:p>
            <a:pPr algn="ctr">
              <a:lnSpc>
                <a:spcPct val="100000"/>
              </a:lnSpc>
            </a:pPr>
            <a:r>
              <a:rPr sz="1120" b="0" i="0">
                <a:solidFill>
                  <a:srgbClr val="FFFFFF"/>
                </a:solidFill>
                <a:latin typeface="Aptos"/>
              </a:rPr>
              <a:t>People equipped to serve others.</a:t>
            </a:r>
          </a:p>
        </p:txBody>
      </p:sp>
      <p:sp>
        <p:nvSpPr>
          <p:cNvPr id="46" name="TextBox 45"/>
          <p:cNvSpPr txBox="1"/>
          <p:nvPr/>
        </p:nvSpPr>
        <p:spPr>
          <a:xfrm>
            <a:off x="621792" y="6519672"/>
            <a:ext cx="3200400" cy="164592"/>
          </a:xfrm>
          <a:prstGeom prst="rect">
            <a:avLst/>
          </a:prstGeom>
          <a:noFill/>
        </p:spPr>
        <p:txBody>
          <a:bodyPr wrap="square" lIns="0" rIns="0" tIns="0" bIns="0" anchor="t">
            <a:spAutoFit/>
          </a:bodyPr>
          <a:lstStyle/>
          <a:p>
            <a:pPr algn="l">
              <a:lnSpc>
                <a:spcPct val="100000"/>
              </a:lnSpc>
            </a:pPr>
            <a:r>
              <a:rPr sz="750" b="1" i="0">
                <a:solidFill>
                  <a:srgbClr val="627080"/>
                </a:solidFill>
                <a:latin typeface="Aptos"/>
              </a:rPr>
              <a:t>MANIFEST  •  MADAGASCAR</a:t>
            </a:r>
          </a:p>
        </p:txBody>
      </p:sp>
      <p:sp>
        <p:nvSpPr>
          <p:cNvPr id="47" name="TextBox 46"/>
          <p:cNvSpPr txBox="1"/>
          <p:nvPr/>
        </p:nvSpPr>
        <p:spPr>
          <a:xfrm>
            <a:off x="11018520" y="6473952"/>
            <a:ext cx="530352" cy="228600"/>
          </a:xfrm>
          <a:prstGeom prst="rect">
            <a:avLst/>
          </a:prstGeom>
          <a:noFill/>
        </p:spPr>
        <p:txBody>
          <a:bodyPr wrap="square" lIns="0" rIns="0" tIns="0" bIns="0" anchor="t">
            <a:spAutoFit/>
          </a:bodyPr>
          <a:lstStyle/>
          <a:p>
            <a:pPr algn="r">
              <a:lnSpc>
                <a:spcPct val="100000"/>
              </a:lnSpc>
            </a:pPr>
            <a:r>
              <a:rPr sz="800" b="1" i="0">
                <a:solidFill>
                  <a:srgbClr val="627080"/>
                </a:solidFill>
                <a:latin typeface="Aptos"/>
              </a:rPr>
              <a:t>08</a:t>
            </a:r>
          </a:p>
        </p:txBody>
      </p:sp>
      <p:pic>
        <p:nvPicPr>
          <p:cNvPr id="48" name="Picture 47" descr="logo-watermark.png"/>
          <p:cNvPicPr>
            <a:picLocks noChangeAspect="1"/>
          </p:cNvPicPr>
          <p:nvPr/>
        </p:nvPicPr>
        <p:blipFill>
          <a:blip r:embed="rId3"/>
          <a:stretch>
            <a:fillRect/>
          </a:stretch>
        </p:blipFill>
        <p:spPr>
          <a:xfrm>
            <a:off x="11045952" y="128016"/>
            <a:ext cx="530352" cy="51206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21792" y="347472"/>
            <a:ext cx="4480560" cy="201168"/>
          </a:xfrm>
          <a:prstGeom prst="rect">
            <a:avLst/>
          </a:prstGeom>
          <a:noFill/>
        </p:spPr>
        <p:txBody>
          <a:bodyPr wrap="square" lIns="0" rIns="0" tIns="0" bIns="0" anchor="t">
            <a:spAutoFit/>
          </a:bodyPr>
          <a:lstStyle/>
          <a:p>
            <a:pPr algn="l">
              <a:lnSpc>
                <a:spcPct val="100000"/>
              </a:lnSpc>
            </a:pPr>
            <a:r>
              <a:rPr sz="850" b="1" i="0">
                <a:solidFill>
                  <a:srgbClr val="D7A13A"/>
                </a:solidFill>
                <a:latin typeface="Aptos"/>
              </a:rPr>
              <a:t>EVERY STAGE OF LIFE</a:t>
            </a:r>
          </a:p>
        </p:txBody>
      </p:sp>
      <p:sp>
        <p:nvSpPr>
          <p:cNvPr id="3" name="TextBox 2"/>
          <p:cNvSpPr txBox="1"/>
          <p:nvPr/>
        </p:nvSpPr>
        <p:spPr>
          <a:xfrm>
            <a:off x="621792" y="621792"/>
            <a:ext cx="10881360" cy="530352"/>
          </a:xfrm>
          <a:prstGeom prst="rect">
            <a:avLst/>
          </a:prstGeom>
          <a:noFill/>
        </p:spPr>
        <p:txBody>
          <a:bodyPr wrap="square" lIns="0" rIns="0" tIns="0" bIns="0" anchor="t">
            <a:spAutoFit/>
          </a:bodyPr>
          <a:lstStyle/>
          <a:p>
            <a:pPr algn="l">
              <a:lnSpc>
                <a:spcPct val="100000"/>
              </a:lnSpc>
            </a:pPr>
            <a:r>
              <a:rPr sz="2900" b="1" i="0">
                <a:solidFill>
                  <a:srgbClr val="102D4D"/>
                </a:solidFill>
                <a:latin typeface="Aptos Display"/>
              </a:rPr>
              <a:t>Investing in people</a:t>
            </a:r>
          </a:p>
        </p:txBody>
      </p:sp>
      <p:sp>
        <p:nvSpPr>
          <p:cNvPr id="4" name="Rectangle 3"/>
          <p:cNvSpPr/>
          <p:nvPr/>
        </p:nvSpPr>
        <p:spPr>
          <a:xfrm>
            <a:off x="621792" y="1170432"/>
            <a:ext cx="530352" cy="32004"/>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0" y="713232"/>
            <a:ext cx="4498848" cy="310896"/>
          </a:xfrm>
          <a:prstGeom prst="rect">
            <a:avLst/>
          </a:prstGeom>
          <a:noFill/>
        </p:spPr>
        <p:txBody>
          <a:bodyPr wrap="square" lIns="0" rIns="0" tIns="0" bIns="0" anchor="t">
            <a:spAutoFit/>
          </a:bodyPr>
          <a:lstStyle/>
          <a:p>
            <a:pPr algn="r">
              <a:lnSpc>
                <a:spcPct val="100000"/>
              </a:lnSpc>
            </a:pPr>
            <a:r>
              <a:rPr sz="1250" b="0" i="0">
                <a:solidFill>
                  <a:srgbClr val="627080"/>
                </a:solidFill>
                <a:latin typeface="Aptos"/>
              </a:rPr>
              <a:t>We serve people at different stages of life.</a:t>
            </a:r>
          </a:p>
        </p:txBody>
      </p:sp>
      <p:sp>
        <p:nvSpPr>
          <p:cNvPr id="6" name="Rounded Rectangle 5"/>
          <p:cNvSpPr/>
          <p:nvPr/>
        </p:nvSpPr>
        <p:spPr>
          <a:xfrm>
            <a:off x="667512" y="1527048"/>
            <a:ext cx="2615184" cy="4315968"/>
          </a:xfrm>
          <a:prstGeom prst="roundRect">
            <a:avLst/>
          </a:prstGeom>
          <a:solidFill>
            <a:srgbClr val="D9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 y="1463040"/>
            <a:ext cx="2615184" cy="4315968"/>
          </a:xfrm>
          <a:prstGeom prst="roundRect">
            <a:avLst/>
          </a:prstGeom>
          <a:solidFill>
            <a:srgbClr val="FFFFFF"/>
          </a:solidFill>
          <a:ln w="8890">
            <a:solidFill>
              <a:srgbClr val="E7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ids_ministry_bel-01.jpg"/>
          <p:cNvPicPr>
            <a:picLocks noChangeAspect="1"/>
          </p:cNvPicPr>
          <p:nvPr/>
        </p:nvPicPr>
        <p:blipFill>
          <a:blip r:embed="rId2"/>
          <a:srcRect l="19253" r="19253"/>
          <a:stretch>
            <a:fillRect/>
          </a:stretch>
        </p:blipFill>
        <p:spPr>
          <a:xfrm>
            <a:off x="621792" y="1463040"/>
            <a:ext cx="2615184" cy="2395728"/>
          </a:xfrm>
          <a:prstGeom prst="rect">
            <a:avLst/>
          </a:prstGeom>
        </p:spPr>
      </p:pic>
      <p:sp>
        <p:nvSpPr>
          <p:cNvPr id="9" name="TextBox 8"/>
          <p:cNvSpPr txBox="1"/>
          <p:nvPr/>
        </p:nvSpPr>
        <p:spPr>
          <a:xfrm>
            <a:off x="841248" y="4133087"/>
            <a:ext cx="2176272" cy="274320"/>
          </a:xfrm>
          <a:prstGeom prst="rect">
            <a:avLst/>
          </a:prstGeom>
          <a:noFill/>
        </p:spPr>
        <p:txBody>
          <a:bodyPr wrap="square" lIns="0" rIns="0" tIns="0" bIns="0" anchor="t">
            <a:spAutoFit/>
          </a:bodyPr>
          <a:lstStyle/>
          <a:p>
            <a:pPr algn="l">
              <a:lnSpc>
                <a:spcPct val="100000"/>
              </a:lnSpc>
            </a:pPr>
            <a:r>
              <a:rPr sz="1100" b="1" i="0">
                <a:solidFill>
                  <a:srgbClr val="D7A13A"/>
                </a:solidFill>
                <a:latin typeface="Aptos"/>
              </a:rPr>
              <a:t>CHILDREN</a:t>
            </a:r>
          </a:p>
        </p:txBody>
      </p:sp>
      <p:sp>
        <p:nvSpPr>
          <p:cNvPr id="10" name="TextBox 9"/>
          <p:cNvSpPr txBox="1"/>
          <p:nvPr/>
        </p:nvSpPr>
        <p:spPr>
          <a:xfrm>
            <a:off x="841248" y="4553712"/>
            <a:ext cx="2176272" cy="813816"/>
          </a:xfrm>
          <a:prstGeom prst="rect">
            <a:avLst/>
          </a:prstGeom>
          <a:noFill/>
        </p:spPr>
        <p:txBody>
          <a:bodyPr wrap="square" lIns="0" rIns="0" tIns="0" bIns="0" anchor="t">
            <a:spAutoFit/>
          </a:bodyPr>
          <a:lstStyle/>
          <a:p>
            <a:pPr algn="l">
              <a:lnSpc>
                <a:spcPct val="105000"/>
              </a:lnSpc>
            </a:pPr>
            <a:r>
              <a:rPr sz="1320" b="0" i="0">
                <a:solidFill>
                  <a:srgbClr val="182431"/>
                </a:solidFill>
                <a:latin typeface="Aptos"/>
              </a:rPr>
              <a:t>Growing in faith, learning, and confidence.</a:t>
            </a:r>
          </a:p>
        </p:txBody>
      </p:sp>
      <p:sp>
        <p:nvSpPr>
          <p:cNvPr id="11" name="Rounded Rectangle 10"/>
          <p:cNvSpPr/>
          <p:nvPr/>
        </p:nvSpPr>
        <p:spPr>
          <a:xfrm>
            <a:off x="3456432" y="1527048"/>
            <a:ext cx="2615184" cy="4315968"/>
          </a:xfrm>
          <a:prstGeom prst="roundRect">
            <a:avLst/>
          </a:prstGeom>
          <a:solidFill>
            <a:srgbClr val="D9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0712" y="1463040"/>
            <a:ext cx="2615184" cy="4315968"/>
          </a:xfrm>
          <a:prstGeom prst="roundRect">
            <a:avLst/>
          </a:prstGeom>
          <a:solidFill>
            <a:srgbClr val="FFFFFF"/>
          </a:solidFill>
          <a:ln w="8890">
            <a:solidFill>
              <a:srgbClr val="E7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dentity-01.jpg"/>
          <p:cNvPicPr>
            <a:picLocks noChangeAspect="1"/>
          </p:cNvPicPr>
          <p:nvPr/>
        </p:nvPicPr>
        <p:blipFill>
          <a:blip r:embed="rId3"/>
          <a:srcRect l="9065" r="9065"/>
          <a:stretch>
            <a:fillRect/>
          </a:stretch>
        </p:blipFill>
        <p:spPr>
          <a:xfrm>
            <a:off x="3410712" y="1463040"/>
            <a:ext cx="2615184" cy="2395728"/>
          </a:xfrm>
          <a:prstGeom prst="rect">
            <a:avLst/>
          </a:prstGeom>
        </p:spPr>
      </p:pic>
      <p:sp>
        <p:nvSpPr>
          <p:cNvPr id="14" name="TextBox 13"/>
          <p:cNvSpPr txBox="1"/>
          <p:nvPr/>
        </p:nvSpPr>
        <p:spPr>
          <a:xfrm>
            <a:off x="3630168" y="4133087"/>
            <a:ext cx="2176272" cy="274320"/>
          </a:xfrm>
          <a:prstGeom prst="rect">
            <a:avLst/>
          </a:prstGeom>
          <a:noFill/>
        </p:spPr>
        <p:txBody>
          <a:bodyPr wrap="square" lIns="0" rIns="0" tIns="0" bIns="0" anchor="t">
            <a:spAutoFit/>
          </a:bodyPr>
          <a:lstStyle/>
          <a:p>
            <a:pPr algn="l">
              <a:lnSpc>
                <a:spcPct val="100000"/>
              </a:lnSpc>
            </a:pPr>
            <a:r>
              <a:rPr sz="1100" b="1" i="0">
                <a:solidFill>
                  <a:srgbClr val="D7A13A"/>
                </a:solidFill>
                <a:latin typeface="Aptos"/>
              </a:rPr>
              <a:t>YOUTH</a:t>
            </a:r>
          </a:p>
        </p:txBody>
      </p:sp>
      <p:sp>
        <p:nvSpPr>
          <p:cNvPr id="15" name="TextBox 14"/>
          <p:cNvSpPr txBox="1"/>
          <p:nvPr/>
        </p:nvSpPr>
        <p:spPr>
          <a:xfrm>
            <a:off x="3630168" y="4553712"/>
            <a:ext cx="2176272" cy="813816"/>
          </a:xfrm>
          <a:prstGeom prst="rect">
            <a:avLst/>
          </a:prstGeom>
          <a:noFill/>
        </p:spPr>
        <p:txBody>
          <a:bodyPr wrap="square" lIns="0" rIns="0" tIns="0" bIns="0" anchor="t">
            <a:spAutoFit/>
          </a:bodyPr>
          <a:lstStyle/>
          <a:p>
            <a:pPr algn="l">
              <a:lnSpc>
                <a:spcPct val="105000"/>
              </a:lnSpc>
            </a:pPr>
            <a:r>
              <a:rPr sz="1320" b="0" i="0">
                <a:solidFill>
                  <a:srgbClr val="182431"/>
                </a:solidFill>
                <a:latin typeface="Aptos"/>
              </a:rPr>
              <a:t>Discovering identity, purpose, and direction.</a:t>
            </a:r>
          </a:p>
        </p:txBody>
      </p:sp>
      <p:sp>
        <p:nvSpPr>
          <p:cNvPr id="16" name="Rounded Rectangle 15"/>
          <p:cNvSpPr/>
          <p:nvPr/>
        </p:nvSpPr>
        <p:spPr>
          <a:xfrm>
            <a:off x="6245351" y="1527048"/>
            <a:ext cx="2615184" cy="4315968"/>
          </a:xfrm>
          <a:prstGeom prst="roundRect">
            <a:avLst/>
          </a:prstGeom>
          <a:solidFill>
            <a:srgbClr val="D9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99631" y="1463040"/>
            <a:ext cx="2615184" cy="4315968"/>
          </a:xfrm>
          <a:prstGeom prst="roundRect">
            <a:avLst/>
          </a:prstGeom>
          <a:solidFill>
            <a:srgbClr val="FFFFFF"/>
          </a:solidFill>
          <a:ln w="8890">
            <a:solidFill>
              <a:srgbClr val="E7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erving-01.jpg"/>
          <p:cNvPicPr>
            <a:picLocks noChangeAspect="1"/>
          </p:cNvPicPr>
          <p:nvPr/>
        </p:nvPicPr>
        <p:blipFill>
          <a:blip r:embed="rId4"/>
          <a:srcRect l="19253" r="19253"/>
          <a:stretch>
            <a:fillRect/>
          </a:stretch>
        </p:blipFill>
        <p:spPr>
          <a:xfrm>
            <a:off x="6199631" y="1463040"/>
            <a:ext cx="2615184" cy="2395728"/>
          </a:xfrm>
          <a:prstGeom prst="rect">
            <a:avLst/>
          </a:prstGeom>
        </p:spPr>
      </p:pic>
      <p:sp>
        <p:nvSpPr>
          <p:cNvPr id="19" name="TextBox 18"/>
          <p:cNvSpPr txBox="1"/>
          <p:nvPr/>
        </p:nvSpPr>
        <p:spPr>
          <a:xfrm>
            <a:off x="6419088" y="4133087"/>
            <a:ext cx="2176272" cy="274320"/>
          </a:xfrm>
          <a:prstGeom prst="rect">
            <a:avLst/>
          </a:prstGeom>
          <a:noFill/>
        </p:spPr>
        <p:txBody>
          <a:bodyPr wrap="square" lIns="0" rIns="0" tIns="0" bIns="0" anchor="t">
            <a:spAutoFit/>
          </a:bodyPr>
          <a:lstStyle/>
          <a:p>
            <a:pPr algn="l">
              <a:lnSpc>
                <a:spcPct val="100000"/>
              </a:lnSpc>
            </a:pPr>
            <a:r>
              <a:rPr sz="1100" b="1" i="0">
                <a:solidFill>
                  <a:srgbClr val="D7A13A"/>
                </a:solidFill>
                <a:latin typeface="Aptos"/>
              </a:rPr>
              <a:t>FAMILIES</a:t>
            </a:r>
          </a:p>
        </p:txBody>
      </p:sp>
      <p:sp>
        <p:nvSpPr>
          <p:cNvPr id="20" name="TextBox 19"/>
          <p:cNvSpPr txBox="1"/>
          <p:nvPr/>
        </p:nvSpPr>
        <p:spPr>
          <a:xfrm>
            <a:off x="6419088" y="4553712"/>
            <a:ext cx="2176272" cy="813816"/>
          </a:xfrm>
          <a:prstGeom prst="rect">
            <a:avLst/>
          </a:prstGeom>
          <a:noFill/>
        </p:spPr>
        <p:txBody>
          <a:bodyPr wrap="square" lIns="0" rIns="0" tIns="0" bIns="0" anchor="t">
            <a:spAutoFit/>
          </a:bodyPr>
          <a:lstStyle/>
          <a:p>
            <a:pPr algn="l">
              <a:lnSpc>
                <a:spcPct val="105000"/>
              </a:lnSpc>
            </a:pPr>
            <a:r>
              <a:rPr sz="1320" b="0" i="0">
                <a:solidFill>
                  <a:srgbClr val="182431"/>
                </a:solidFill>
                <a:latin typeface="Aptos"/>
              </a:rPr>
              <a:t>Growing in faith, responsibility, and resilience.</a:t>
            </a:r>
          </a:p>
        </p:txBody>
      </p:sp>
      <p:sp>
        <p:nvSpPr>
          <p:cNvPr id="21" name="Rounded Rectangle 20"/>
          <p:cNvSpPr/>
          <p:nvPr/>
        </p:nvSpPr>
        <p:spPr>
          <a:xfrm>
            <a:off x="9034272" y="1527048"/>
            <a:ext cx="2615184" cy="4315968"/>
          </a:xfrm>
          <a:prstGeom prst="roundRect">
            <a:avLst/>
          </a:prstGeom>
          <a:solidFill>
            <a:srgbClr val="D9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988551" y="1463040"/>
            <a:ext cx="2615184" cy="4315968"/>
          </a:xfrm>
          <a:prstGeom prst="roundRect">
            <a:avLst/>
          </a:prstGeom>
          <a:solidFill>
            <a:srgbClr val="FFFFFF"/>
          </a:solidFill>
          <a:ln w="8890">
            <a:solidFill>
              <a:srgbClr val="E7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ovid-02.jpg"/>
          <p:cNvPicPr>
            <a:picLocks noChangeAspect="1"/>
          </p:cNvPicPr>
          <p:nvPr/>
        </p:nvPicPr>
        <p:blipFill>
          <a:blip r:embed="rId5"/>
          <a:srcRect l="19208" r="19208"/>
          <a:stretch>
            <a:fillRect/>
          </a:stretch>
        </p:blipFill>
        <p:spPr>
          <a:xfrm>
            <a:off x="8988551" y="1463040"/>
            <a:ext cx="2615184" cy="2395728"/>
          </a:xfrm>
          <a:prstGeom prst="rect">
            <a:avLst/>
          </a:prstGeom>
        </p:spPr>
      </p:pic>
      <p:sp>
        <p:nvSpPr>
          <p:cNvPr id="24" name="TextBox 23"/>
          <p:cNvSpPr txBox="1"/>
          <p:nvPr/>
        </p:nvSpPr>
        <p:spPr>
          <a:xfrm>
            <a:off x="9208007" y="4133087"/>
            <a:ext cx="2176272" cy="274320"/>
          </a:xfrm>
          <a:prstGeom prst="rect">
            <a:avLst/>
          </a:prstGeom>
          <a:noFill/>
        </p:spPr>
        <p:txBody>
          <a:bodyPr wrap="square" lIns="0" rIns="0" tIns="0" bIns="0" anchor="t">
            <a:spAutoFit/>
          </a:bodyPr>
          <a:lstStyle/>
          <a:p>
            <a:pPr algn="l">
              <a:lnSpc>
                <a:spcPct val="100000"/>
              </a:lnSpc>
            </a:pPr>
            <a:r>
              <a:rPr sz="1100" b="1" i="0">
                <a:solidFill>
                  <a:srgbClr val="D7A13A"/>
                </a:solidFill>
                <a:latin typeface="Aptos"/>
              </a:rPr>
              <a:t>PEOPLE IN NEED</a:t>
            </a:r>
          </a:p>
        </p:txBody>
      </p:sp>
      <p:sp>
        <p:nvSpPr>
          <p:cNvPr id="25" name="TextBox 24"/>
          <p:cNvSpPr txBox="1"/>
          <p:nvPr/>
        </p:nvSpPr>
        <p:spPr>
          <a:xfrm>
            <a:off x="9208007" y="4553712"/>
            <a:ext cx="2176272" cy="813816"/>
          </a:xfrm>
          <a:prstGeom prst="rect">
            <a:avLst/>
          </a:prstGeom>
          <a:noFill/>
        </p:spPr>
        <p:txBody>
          <a:bodyPr wrap="square" lIns="0" rIns="0" tIns="0" bIns="0" anchor="t">
            <a:spAutoFit/>
          </a:bodyPr>
          <a:lstStyle/>
          <a:p>
            <a:pPr algn="l">
              <a:lnSpc>
                <a:spcPct val="105000"/>
              </a:lnSpc>
            </a:pPr>
            <a:r>
              <a:rPr sz="1320" b="0" i="0">
                <a:solidFill>
                  <a:srgbClr val="182431"/>
                </a:solidFill>
                <a:latin typeface="Aptos"/>
              </a:rPr>
              <a:t>Finding dignity, hope, and opportunities.</a:t>
            </a:r>
          </a:p>
        </p:txBody>
      </p:sp>
      <p:sp>
        <p:nvSpPr>
          <p:cNvPr id="26" name="Rounded Rectangle 25"/>
          <p:cNvSpPr/>
          <p:nvPr/>
        </p:nvSpPr>
        <p:spPr>
          <a:xfrm>
            <a:off x="3200400" y="6016752"/>
            <a:ext cx="5797296" cy="475488"/>
          </a:xfrm>
          <a:prstGeom prst="roundRect">
            <a:avLst/>
          </a:prstGeom>
          <a:solidFill>
            <a:srgbClr val="10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01568" y="6153912"/>
            <a:ext cx="5394960" cy="201168"/>
          </a:xfrm>
          <a:prstGeom prst="rect">
            <a:avLst/>
          </a:prstGeom>
          <a:noFill/>
        </p:spPr>
        <p:txBody>
          <a:bodyPr wrap="square" lIns="0" rIns="0" tIns="0" bIns="0" anchor="t">
            <a:spAutoFit/>
          </a:bodyPr>
          <a:lstStyle/>
          <a:p>
            <a:pPr algn="ctr">
              <a:lnSpc>
                <a:spcPct val="100000"/>
              </a:lnSpc>
            </a:pPr>
            <a:r>
              <a:rPr sz="1350" b="1" i="0">
                <a:solidFill>
                  <a:srgbClr val="FFFFFF"/>
                </a:solidFill>
                <a:latin typeface="Aptos Display"/>
              </a:rPr>
              <a:t>Every person matters. Every life has potential.</a:t>
            </a:r>
          </a:p>
        </p:txBody>
      </p:sp>
      <p:sp>
        <p:nvSpPr>
          <p:cNvPr id="28" name="TextBox 27"/>
          <p:cNvSpPr txBox="1"/>
          <p:nvPr/>
        </p:nvSpPr>
        <p:spPr>
          <a:xfrm>
            <a:off x="621792" y="6519672"/>
            <a:ext cx="3200400" cy="164592"/>
          </a:xfrm>
          <a:prstGeom prst="rect">
            <a:avLst/>
          </a:prstGeom>
          <a:noFill/>
        </p:spPr>
        <p:txBody>
          <a:bodyPr wrap="square" lIns="0" rIns="0" tIns="0" bIns="0" anchor="t">
            <a:spAutoFit/>
          </a:bodyPr>
          <a:lstStyle/>
          <a:p>
            <a:pPr algn="l">
              <a:lnSpc>
                <a:spcPct val="100000"/>
              </a:lnSpc>
            </a:pPr>
            <a:r>
              <a:rPr sz="750" b="1" i="0">
                <a:solidFill>
                  <a:srgbClr val="627080"/>
                </a:solidFill>
                <a:latin typeface="Aptos"/>
              </a:rPr>
              <a:t>MANIFEST  •  MADAGASCAR</a:t>
            </a:r>
          </a:p>
        </p:txBody>
      </p:sp>
      <p:sp>
        <p:nvSpPr>
          <p:cNvPr id="29" name="TextBox 28"/>
          <p:cNvSpPr txBox="1"/>
          <p:nvPr/>
        </p:nvSpPr>
        <p:spPr>
          <a:xfrm>
            <a:off x="11018520" y="6473952"/>
            <a:ext cx="530352" cy="228600"/>
          </a:xfrm>
          <a:prstGeom prst="rect">
            <a:avLst/>
          </a:prstGeom>
          <a:noFill/>
        </p:spPr>
        <p:txBody>
          <a:bodyPr wrap="square" lIns="0" rIns="0" tIns="0" bIns="0" anchor="t">
            <a:spAutoFit/>
          </a:bodyPr>
          <a:lstStyle/>
          <a:p>
            <a:pPr algn="r">
              <a:lnSpc>
                <a:spcPct val="100000"/>
              </a:lnSpc>
            </a:pPr>
            <a:r>
              <a:rPr sz="800" b="1" i="0">
                <a:solidFill>
                  <a:srgbClr val="627080"/>
                </a:solidFill>
                <a:latin typeface="Aptos"/>
              </a:rPr>
              <a:t>09</a:t>
            </a:r>
          </a:p>
        </p:txBody>
      </p:sp>
      <p:pic>
        <p:nvPicPr>
          <p:cNvPr id="30" name="Picture 29" descr="logo-watermark.png"/>
          <p:cNvPicPr>
            <a:picLocks noChangeAspect="1"/>
          </p:cNvPicPr>
          <p:nvPr/>
        </p:nvPicPr>
        <p:blipFill>
          <a:blip r:embed="rId6"/>
          <a:stretch>
            <a:fillRect/>
          </a:stretch>
        </p:blipFill>
        <p:spPr>
          <a:xfrm>
            <a:off x="11045952" y="128016"/>
            <a:ext cx="530352" cy="51206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DF9"/>
        </a:solidFill>
        <a:effectLst/>
      </p:bgPr>
    </p:bg>
    <p:spTree>
      <p:nvGrpSpPr>
        <p:cNvPr id="1" name=""/>
        <p:cNvGrpSpPr/>
        <p:nvPr/>
      </p:nvGrpSpPr>
      <p:grpSpPr/>
      <p:sp>
        <p:nvSpPr>
          <p:cNvPr id="2" name="TextBox 1"/>
          <p:cNvSpPr txBox="1"/>
          <p:nvPr/>
        </p:nvSpPr>
        <p:spPr>
          <a:xfrm>
            <a:off x="621792" y="347472"/>
            <a:ext cx="4480560" cy="201168"/>
          </a:xfrm>
          <a:prstGeom prst="rect">
            <a:avLst/>
          </a:prstGeom>
          <a:noFill/>
        </p:spPr>
        <p:txBody>
          <a:bodyPr wrap="square" lIns="0" rIns="0" tIns="0" bIns="0" anchor="t">
            <a:spAutoFit/>
          </a:bodyPr>
          <a:lstStyle/>
          <a:p>
            <a:pPr algn="l">
              <a:lnSpc>
                <a:spcPct val="100000"/>
              </a:lnSpc>
            </a:pPr>
            <a:r>
              <a:rPr sz="850" b="1" i="0">
                <a:solidFill>
                  <a:srgbClr val="D7A13A"/>
                </a:solidFill>
                <a:latin typeface="Aptos"/>
              </a:rPr>
              <a:t>TEACH • EQUIP • EMPOWER</a:t>
            </a:r>
          </a:p>
        </p:txBody>
      </p:sp>
      <p:sp>
        <p:nvSpPr>
          <p:cNvPr id="3" name="TextBox 2"/>
          <p:cNvSpPr txBox="1"/>
          <p:nvPr/>
        </p:nvSpPr>
        <p:spPr>
          <a:xfrm>
            <a:off x="621792" y="621792"/>
            <a:ext cx="10881360" cy="530352"/>
          </a:xfrm>
          <a:prstGeom prst="rect">
            <a:avLst/>
          </a:prstGeom>
          <a:noFill/>
        </p:spPr>
        <p:txBody>
          <a:bodyPr wrap="square" lIns="0" rIns="0" tIns="0" bIns="0" anchor="t">
            <a:spAutoFit/>
          </a:bodyPr>
          <a:lstStyle/>
          <a:p>
            <a:pPr algn="l">
              <a:lnSpc>
                <a:spcPct val="100000"/>
              </a:lnSpc>
            </a:pPr>
            <a:r>
              <a:rPr sz="2900" b="1" i="0">
                <a:solidFill>
                  <a:srgbClr val="102D4D"/>
                </a:solidFill>
                <a:latin typeface="Aptos Display"/>
              </a:rPr>
              <a:t>Education as a door to opportunity</a:t>
            </a:r>
          </a:p>
        </p:txBody>
      </p:sp>
      <p:sp>
        <p:nvSpPr>
          <p:cNvPr id="4" name="Rectangle 3"/>
          <p:cNvSpPr/>
          <p:nvPr/>
        </p:nvSpPr>
        <p:spPr>
          <a:xfrm>
            <a:off x="621792" y="1170432"/>
            <a:ext cx="530352" cy="32004"/>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0" y="713232"/>
            <a:ext cx="4224528" cy="310896"/>
          </a:xfrm>
          <a:prstGeom prst="rect">
            <a:avLst/>
          </a:prstGeom>
          <a:noFill/>
        </p:spPr>
        <p:txBody>
          <a:bodyPr wrap="square" lIns="0" rIns="0" tIns="0" bIns="0" anchor="t">
            <a:spAutoFit/>
          </a:bodyPr>
          <a:lstStyle/>
          <a:p>
            <a:pPr algn="r">
              <a:lnSpc>
                <a:spcPct val="100000"/>
              </a:lnSpc>
            </a:pPr>
            <a:r>
              <a:rPr sz="1250" b="0" i="0">
                <a:solidFill>
                  <a:srgbClr val="627080"/>
                </a:solidFill>
                <a:latin typeface="Aptos"/>
              </a:rPr>
              <a:t>We believe education can open doors.</a:t>
            </a:r>
          </a:p>
        </p:txBody>
      </p:sp>
      <p:sp>
        <p:nvSpPr>
          <p:cNvPr id="6" name="Rounded Rectangle 5"/>
          <p:cNvSpPr/>
          <p:nvPr/>
        </p:nvSpPr>
        <p:spPr>
          <a:xfrm>
            <a:off x="621792" y="1344168"/>
            <a:ext cx="438912" cy="438912"/>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 y="1472184"/>
            <a:ext cx="420624" cy="164592"/>
          </a:xfrm>
          <a:prstGeom prst="rect">
            <a:avLst/>
          </a:prstGeom>
          <a:noFill/>
        </p:spPr>
        <p:txBody>
          <a:bodyPr wrap="square" lIns="0" rIns="0" tIns="0" bIns="0" anchor="t">
            <a:spAutoFit/>
          </a:bodyPr>
          <a:lstStyle/>
          <a:p>
            <a:pPr algn="ctr">
              <a:lnSpc>
                <a:spcPct val="100000"/>
              </a:lnSpc>
            </a:pPr>
            <a:r>
              <a:rPr sz="850" b="1" i="0">
                <a:solidFill>
                  <a:srgbClr val="071A2D"/>
                </a:solidFill>
                <a:latin typeface="Aptos"/>
              </a:rPr>
              <a:t>1</a:t>
            </a:r>
          </a:p>
        </p:txBody>
      </p:sp>
      <p:sp>
        <p:nvSpPr>
          <p:cNvPr id="8" name="TextBox 7"/>
          <p:cNvSpPr txBox="1"/>
          <p:nvPr/>
        </p:nvSpPr>
        <p:spPr>
          <a:xfrm>
            <a:off x="1261872" y="1316736"/>
            <a:ext cx="5330952" cy="548640"/>
          </a:xfrm>
          <a:prstGeom prst="rect">
            <a:avLst/>
          </a:prstGeom>
          <a:noFill/>
        </p:spPr>
        <p:txBody>
          <a:bodyPr wrap="square" lIns="0" rIns="0" tIns="0" bIns="0" anchor="t">
            <a:spAutoFit/>
          </a:bodyPr>
          <a:lstStyle/>
          <a:p>
            <a:pPr algn="l">
              <a:lnSpc>
                <a:spcPct val="100000"/>
              </a:lnSpc>
              <a:spcBef>
                <a:spcPts val="0"/>
              </a:spcBef>
              <a:spcAft>
                <a:spcPts val="0"/>
              </a:spcAft>
            </a:pPr>
            <a:r>
              <a:rPr sz="1140" b="1" i="0">
                <a:solidFill>
                  <a:srgbClr val="102D4D"/>
                </a:solidFill>
                <a:latin typeface="Aptos"/>
              </a:rPr>
              <a:t>SPORT — </a:t>
            </a:r>
            <a:r>
              <a:rPr sz="1140" b="0" i="0">
                <a:solidFill>
                  <a:srgbClr val="627080"/>
                </a:solidFill>
                <a:latin typeface="Aptos"/>
              </a:rPr>
              <a:t>Building teamwork, discipline, confidence, and leadership through football and other sports.</a:t>
            </a:r>
          </a:p>
        </p:txBody>
      </p:sp>
      <p:sp>
        <p:nvSpPr>
          <p:cNvPr id="9" name="Rounded Rectangle 8"/>
          <p:cNvSpPr/>
          <p:nvPr/>
        </p:nvSpPr>
        <p:spPr>
          <a:xfrm>
            <a:off x="621792" y="2029967"/>
            <a:ext cx="438912" cy="438912"/>
          </a:xfrm>
          <a:prstGeom prst="roundRect">
            <a:avLst/>
          </a:prstGeom>
          <a:solidFill>
            <a:srgbClr val="10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2157984"/>
            <a:ext cx="420624" cy="164592"/>
          </a:xfrm>
          <a:prstGeom prst="rect">
            <a:avLst/>
          </a:prstGeom>
          <a:noFill/>
        </p:spPr>
        <p:txBody>
          <a:bodyPr wrap="square" lIns="0" rIns="0" tIns="0" bIns="0" anchor="t">
            <a:spAutoFit/>
          </a:bodyPr>
          <a:lstStyle/>
          <a:p>
            <a:pPr algn="ctr">
              <a:lnSpc>
                <a:spcPct val="100000"/>
              </a:lnSpc>
            </a:pPr>
            <a:r>
              <a:rPr sz="850" b="1" i="0">
                <a:solidFill>
                  <a:srgbClr val="FFFFFF"/>
                </a:solidFill>
                <a:latin typeface="Aptos"/>
              </a:rPr>
              <a:t>2</a:t>
            </a:r>
          </a:p>
        </p:txBody>
      </p:sp>
      <p:sp>
        <p:nvSpPr>
          <p:cNvPr id="11" name="TextBox 10"/>
          <p:cNvSpPr txBox="1"/>
          <p:nvPr/>
        </p:nvSpPr>
        <p:spPr>
          <a:xfrm>
            <a:off x="1261872" y="2002536"/>
            <a:ext cx="5330952" cy="548640"/>
          </a:xfrm>
          <a:prstGeom prst="rect">
            <a:avLst/>
          </a:prstGeom>
          <a:noFill/>
        </p:spPr>
        <p:txBody>
          <a:bodyPr wrap="square" lIns="0" rIns="0" tIns="0" bIns="0" anchor="t">
            <a:spAutoFit/>
          </a:bodyPr>
          <a:lstStyle/>
          <a:p>
            <a:pPr algn="l">
              <a:lnSpc>
                <a:spcPct val="100000"/>
              </a:lnSpc>
              <a:spcBef>
                <a:spcPts val="0"/>
              </a:spcBef>
              <a:spcAft>
                <a:spcPts val="0"/>
              </a:spcAft>
            </a:pPr>
            <a:r>
              <a:rPr sz="1140" b="1" i="0">
                <a:solidFill>
                  <a:srgbClr val="102D4D"/>
                </a:solidFill>
                <a:latin typeface="Aptos"/>
              </a:rPr>
              <a:t>LITERACY — </a:t>
            </a:r>
            <a:r>
              <a:rPr sz="1140" b="0" i="0">
                <a:solidFill>
                  <a:srgbClr val="627080"/>
                </a:solidFill>
                <a:latin typeface="Aptos"/>
              </a:rPr>
              <a:t>Helping people read, write, and gain confidence.</a:t>
            </a:r>
          </a:p>
        </p:txBody>
      </p:sp>
      <p:sp>
        <p:nvSpPr>
          <p:cNvPr id="12" name="Rounded Rectangle 11"/>
          <p:cNvSpPr/>
          <p:nvPr/>
        </p:nvSpPr>
        <p:spPr>
          <a:xfrm>
            <a:off x="621792" y="2715768"/>
            <a:ext cx="438912" cy="438912"/>
          </a:xfrm>
          <a:prstGeom prst="roundRect">
            <a:avLst/>
          </a:prstGeom>
          <a:solidFill>
            <a:srgbClr val="10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 y="2843784"/>
            <a:ext cx="420624" cy="164592"/>
          </a:xfrm>
          <a:prstGeom prst="rect">
            <a:avLst/>
          </a:prstGeom>
          <a:noFill/>
        </p:spPr>
        <p:txBody>
          <a:bodyPr wrap="square" lIns="0" rIns="0" tIns="0" bIns="0" anchor="t">
            <a:spAutoFit/>
          </a:bodyPr>
          <a:lstStyle/>
          <a:p>
            <a:pPr algn="ctr">
              <a:lnSpc>
                <a:spcPct val="100000"/>
              </a:lnSpc>
            </a:pPr>
            <a:r>
              <a:rPr sz="850" b="1" i="0">
                <a:solidFill>
                  <a:srgbClr val="FFFFFF"/>
                </a:solidFill>
                <a:latin typeface="Aptos"/>
              </a:rPr>
              <a:t>3</a:t>
            </a:r>
          </a:p>
        </p:txBody>
      </p:sp>
      <p:sp>
        <p:nvSpPr>
          <p:cNvPr id="14" name="TextBox 13"/>
          <p:cNvSpPr txBox="1"/>
          <p:nvPr/>
        </p:nvSpPr>
        <p:spPr>
          <a:xfrm>
            <a:off x="1261872" y="2688336"/>
            <a:ext cx="5330952" cy="548640"/>
          </a:xfrm>
          <a:prstGeom prst="rect">
            <a:avLst/>
          </a:prstGeom>
          <a:noFill/>
        </p:spPr>
        <p:txBody>
          <a:bodyPr wrap="square" lIns="0" rIns="0" tIns="0" bIns="0" anchor="t">
            <a:spAutoFit/>
          </a:bodyPr>
          <a:lstStyle/>
          <a:p>
            <a:pPr algn="l">
              <a:lnSpc>
                <a:spcPct val="100000"/>
              </a:lnSpc>
              <a:spcBef>
                <a:spcPts val="0"/>
              </a:spcBef>
              <a:spcAft>
                <a:spcPts val="0"/>
              </a:spcAft>
            </a:pPr>
            <a:r>
              <a:rPr sz="1140" b="1" i="0">
                <a:solidFill>
                  <a:srgbClr val="102D4D"/>
                </a:solidFill>
                <a:latin typeface="Aptos"/>
              </a:rPr>
              <a:t>ACADEMIC SUPPORT — </a:t>
            </a:r>
            <a:r>
              <a:rPr sz="1140" b="0" i="0">
                <a:solidFill>
                  <a:srgbClr val="627080"/>
                </a:solidFill>
                <a:latin typeface="Aptos"/>
              </a:rPr>
              <a:t>Helping children and young people grow in their studies.</a:t>
            </a:r>
          </a:p>
        </p:txBody>
      </p:sp>
      <p:sp>
        <p:nvSpPr>
          <p:cNvPr id="15" name="Rounded Rectangle 14"/>
          <p:cNvSpPr/>
          <p:nvPr/>
        </p:nvSpPr>
        <p:spPr>
          <a:xfrm>
            <a:off x="621792" y="3401568"/>
            <a:ext cx="438912" cy="438912"/>
          </a:xfrm>
          <a:prstGeom prst="roundRect">
            <a:avLst/>
          </a:prstGeom>
          <a:solidFill>
            <a:srgbClr val="10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 y="3529584"/>
            <a:ext cx="420624" cy="164592"/>
          </a:xfrm>
          <a:prstGeom prst="rect">
            <a:avLst/>
          </a:prstGeom>
          <a:noFill/>
        </p:spPr>
        <p:txBody>
          <a:bodyPr wrap="square" lIns="0" rIns="0" tIns="0" bIns="0" anchor="t">
            <a:spAutoFit/>
          </a:bodyPr>
          <a:lstStyle/>
          <a:p>
            <a:pPr algn="ctr">
              <a:lnSpc>
                <a:spcPct val="100000"/>
              </a:lnSpc>
            </a:pPr>
            <a:r>
              <a:rPr sz="850" b="1" i="0">
                <a:solidFill>
                  <a:srgbClr val="FFFFFF"/>
                </a:solidFill>
                <a:latin typeface="Aptos"/>
              </a:rPr>
              <a:t>4</a:t>
            </a:r>
          </a:p>
        </p:txBody>
      </p:sp>
      <p:sp>
        <p:nvSpPr>
          <p:cNvPr id="17" name="TextBox 16"/>
          <p:cNvSpPr txBox="1"/>
          <p:nvPr/>
        </p:nvSpPr>
        <p:spPr>
          <a:xfrm>
            <a:off x="1261872" y="3374136"/>
            <a:ext cx="5330952" cy="548640"/>
          </a:xfrm>
          <a:prstGeom prst="rect">
            <a:avLst/>
          </a:prstGeom>
          <a:noFill/>
        </p:spPr>
        <p:txBody>
          <a:bodyPr wrap="square" lIns="0" rIns="0" tIns="0" bIns="0" anchor="t">
            <a:spAutoFit/>
          </a:bodyPr>
          <a:lstStyle/>
          <a:p>
            <a:pPr algn="l">
              <a:lnSpc>
                <a:spcPct val="100000"/>
              </a:lnSpc>
              <a:spcBef>
                <a:spcPts val="0"/>
              </a:spcBef>
              <a:spcAft>
                <a:spcPts val="0"/>
              </a:spcAft>
            </a:pPr>
            <a:r>
              <a:rPr sz="1140" b="1" i="0">
                <a:solidFill>
                  <a:srgbClr val="102D4D"/>
                </a:solidFill>
                <a:latin typeface="Aptos"/>
              </a:rPr>
              <a:t>LANGUAGES — </a:t>
            </a:r>
            <a:r>
              <a:rPr sz="1140" b="0" i="0">
                <a:solidFill>
                  <a:srgbClr val="627080"/>
                </a:solidFill>
                <a:latin typeface="Aptos"/>
              </a:rPr>
              <a:t>Opening access to communication and new opportunities.</a:t>
            </a:r>
          </a:p>
        </p:txBody>
      </p:sp>
      <p:sp>
        <p:nvSpPr>
          <p:cNvPr id="18" name="Rounded Rectangle 17"/>
          <p:cNvSpPr/>
          <p:nvPr/>
        </p:nvSpPr>
        <p:spPr>
          <a:xfrm>
            <a:off x="621792" y="4087368"/>
            <a:ext cx="438912" cy="438912"/>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 y="4215383"/>
            <a:ext cx="420624" cy="164592"/>
          </a:xfrm>
          <a:prstGeom prst="rect">
            <a:avLst/>
          </a:prstGeom>
          <a:noFill/>
        </p:spPr>
        <p:txBody>
          <a:bodyPr wrap="square" lIns="0" rIns="0" tIns="0" bIns="0" anchor="t">
            <a:spAutoFit/>
          </a:bodyPr>
          <a:lstStyle/>
          <a:p>
            <a:pPr algn="ctr">
              <a:lnSpc>
                <a:spcPct val="100000"/>
              </a:lnSpc>
            </a:pPr>
            <a:r>
              <a:rPr sz="850" b="1" i="0">
                <a:solidFill>
                  <a:srgbClr val="071A2D"/>
                </a:solidFill>
                <a:latin typeface="Aptos"/>
              </a:rPr>
              <a:t>5</a:t>
            </a:r>
          </a:p>
        </p:txBody>
      </p:sp>
      <p:sp>
        <p:nvSpPr>
          <p:cNvPr id="20" name="TextBox 19"/>
          <p:cNvSpPr txBox="1"/>
          <p:nvPr/>
        </p:nvSpPr>
        <p:spPr>
          <a:xfrm>
            <a:off x="1261872" y="4059935"/>
            <a:ext cx="5330952" cy="548640"/>
          </a:xfrm>
          <a:prstGeom prst="rect">
            <a:avLst/>
          </a:prstGeom>
          <a:noFill/>
        </p:spPr>
        <p:txBody>
          <a:bodyPr wrap="square" lIns="0" rIns="0" tIns="0" bIns="0" anchor="t">
            <a:spAutoFit/>
          </a:bodyPr>
          <a:lstStyle/>
          <a:p>
            <a:pPr algn="l">
              <a:lnSpc>
                <a:spcPct val="100000"/>
              </a:lnSpc>
              <a:spcBef>
                <a:spcPts val="0"/>
              </a:spcBef>
              <a:spcAft>
                <a:spcPts val="0"/>
              </a:spcAft>
            </a:pPr>
            <a:r>
              <a:rPr sz="1140" b="1" i="0">
                <a:solidFill>
                  <a:srgbClr val="102D4D"/>
                </a:solidFill>
                <a:latin typeface="Aptos"/>
              </a:rPr>
              <a:t>DIGITAL &amp; CODING — </a:t>
            </a:r>
            <a:r>
              <a:rPr sz="1140" b="0" i="0">
                <a:solidFill>
                  <a:srgbClr val="627080"/>
                </a:solidFill>
                <a:latin typeface="Aptos"/>
              </a:rPr>
              <a:t>Preparing young people for a changing world through digital and technical skills.</a:t>
            </a:r>
          </a:p>
        </p:txBody>
      </p:sp>
      <p:sp>
        <p:nvSpPr>
          <p:cNvPr id="21" name="Rounded Rectangle 20"/>
          <p:cNvSpPr/>
          <p:nvPr/>
        </p:nvSpPr>
        <p:spPr>
          <a:xfrm>
            <a:off x="621792" y="4773168"/>
            <a:ext cx="438912" cy="438912"/>
          </a:xfrm>
          <a:prstGeom prst="roundRect">
            <a:avLst/>
          </a:prstGeom>
          <a:solidFill>
            <a:srgbClr val="10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4901183"/>
            <a:ext cx="420624" cy="164592"/>
          </a:xfrm>
          <a:prstGeom prst="rect">
            <a:avLst/>
          </a:prstGeom>
          <a:noFill/>
        </p:spPr>
        <p:txBody>
          <a:bodyPr wrap="square" lIns="0" rIns="0" tIns="0" bIns="0" anchor="t">
            <a:spAutoFit/>
          </a:bodyPr>
          <a:lstStyle/>
          <a:p>
            <a:pPr algn="ctr">
              <a:lnSpc>
                <a:spcPct val="100000"/>
              </a:lnSpc>
            </a:pPr>
            <a:r>
              <a:rPr sz="850" b="1" i="0">
                <a:solidFill>
                  <a:srgbClr val="FFFFFF"/>
                </a:solidFill>
                <a:latin typeface="Aptos"/>
              </a:rPr>
              <a:t>6</a:t>
            </a:r>
          </a:p>
        </p:txBody>
      </p:sp>
      <p:sp>
        <p:nvSpPr>
          <p:cNvPr id="23" name="TextBox 22"/>
          <p:cNvSpPr txBox="1"/>
          <p:nvPr/>
        </p:nvSpPr>
        <p:spPr>
          <a:xfrm>
            <a:off x="1261872" y="4745736"/>
            <a:ext cx="5330952" cy="548640"/>
          </a:xfrm>
          <a:prstGeom prst="rect">
            <a:avLst/>
          </a:prstGeom>
          <a:noFill/>
        </p:spPr>
        <p:txBody>
          <a:bodyPr wrap="square" lIns="0" rIns="0" tIns="0" bIns="0" anchor="t">
            <a:spAutoFit/>
          </a:bodyPr>
          <a:lstStyle/>
          <a:p>
            <a:pPr algn="l">
              <a:lnSpc>
                <a:spcPct val="100000"/>
              </a:lnSpc>
              <a:spcBef>
                <a:spcPts val="0"/>
              </a:spcBef>
              <a:spcAft>
                <a:spcPts val="0"/>
              </a:spcAft>
            </a:pPr>
            <a:r>
              <a:rPr sz="1140" b="1" i="0">
                <a:solidFill>
                  <a:srgbClr val="102D4D"/>
                </a:solidFill>
                <a:latin typeface="Aptos"/>
              </a:rPr>
              <a:t>TECHNOLOGY &amp; ELECTRONICS — </a:t>
            </a:r>
            <a:r>
              <a:rPr sz="1140" b="0" i="0">
                <a:solidFill>
                  <a:srgbClr val="627080"/>
                </a:solidFill>
                <a:latin typeface="Aptos"/>
              </a:rPr>
              <a:t>Developing practical and future-oriented skills.</a:t>
            </a:r>
          </a:p>
        </p:txBody>
      </p:sp>
      <p:sp>
        <p:nvSpPr>
          <p:cNvPr id="24" name="Rounded Rectangle 23"/>
          <p:cNvSpPr/>
          <p:nvPr/>
        </p:nvSpPr>
        <p:spPr>
          <a:xfrm>
            <a:off x="621792" y="5458968"/>
            <a:ext cx="438912" cy="438912"/>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 y="5586983"/>
            <a:ext cx="420624" cy="164592"/>
          </a:xfrm>
          <a:prstGeom prst="rect">
            <a:avLst/>
          </a:prstGeom>
          <a:noFill/>
        </p:spPr>
        <p:txBody>
          <a:bodyPr wrap="square" lIns="0" rIns="0" tIns="0" bIns="0" anchor="t">
            <a:spAutoFit/>
          </a:bodyPr>
          <a:lstStyle/>
          <a:p>
            <a:pPr algn="ctr">
              <a:lnSpc>
                <a:spcPct val="100000"/>
              </a:lnSpc>
            </a:pPr>
            <a:r>
              <a:rPr sz="850" b="1" i="0">
                <a:solidFill>
                  <a:srgbClr val="071A2D"/>
                </a:solidFill>
                <a:latin typeface="Aptos"/>
              </a:rPr>
              <a:t>7</a:t>
            </a:r>
          </a:p>
        </p:txBody>
      </p:sp>
      <p:sp>
        <p:nvSpPr>
          <p:cNvPr id="26" name="TextBox 25"/>
          <p:cNvSpPr txBox="1"/>
          <p:nvPr/>
        </p:nvSpPr>
        <p:spPr>
          <a:xfrm>
            <a:off x="1261872" y="5431536"/>
            <a:ext cx="5330952" cy="548640"/>
          </a:xfrm>
          <a:prstGeom prst="rect">
            <a:avLst/>
          </a:prstGeom>
          <a:noFill/>
        </p:spPr>
        <p:txBody>
          <a:bodyPr wrap="square" lIns="0" rIns="0" tIns="0" bIns="0" anchor="t">
            <a:spAutoFit/>
          </a:bodyPr>
          <a:lstStyle/>
          <a:p>
            <a:pPr algn="l">
              <a:lnSpc>
                <a:spcPct val="100000"/>
              </a:lnSpc>
              <a:spcBef>
                <a:spcPts val="0"/>
              </a:spcBef>
              <a:spcAft>
                <a:spcPts val="0"/>
              </a:spcAft>
            </a:pPr>
            <a:r>
              <a:rPr sz="1140" b="1" i="0">
                <a:solidFill>
                  <a:srgbClr val="102D4D"/>
                </a:solidFill>
                <a:latin typeface="Aptos"/>
              </a:rPr>
              <a:t>COOKING &amp; PASTRY — </a:t>
            </a:r>
            <a:r>
              <a:rPr sz="1140" b="0" i="0">
                <a:solidFill>
                  <a:srgbClr val="627080"/>
                </a:solidFill>
                <a:latin typeface="Aptos"/>
              </a:rPr>
              <a:t>Turning skills into creativity and potential income.</a:t>
            </a:r>
          </a:p>
        </p:txBody>
      </p:sp>
      <p:pic>
        <p:nvPicPr>
          <p:cNvPr id="27" name="Picture 26" descr="sports-01.jpg"/>
          <p:cNvPicPr>
            <a:picLocks noChangeAspect="1"/>
          </p:cNvPicPr>
          <p:nvPr/>
        </p:nvPicPr>
        <p:blipFill>
          <a:blip r:embed="rId2"/>
          <a:srcRect l="20712" r="20712"/>
          <a:stretch>
            <a:fillRect/>
          </a:stretch>
        </p:blipFill>
        <p:spPr>
          <a:xfrm>
            <a:off x="6903720" y="1325880"/>
            <a:ext cx="2148840" cy="2066543"/>
          </a:xfrm>
          <a:prstGeom prst="rect">
            <a:avLst/>
          </a:prstGeom>
        </p:spPr>
      </p:pic>
      <p:pic>
        <p:nvPicPr>
          <p:cNvPr id="28" name="Picture 27" descr="smf_mahambo_lit-01.jpg"/>
          <p:cNvPicPr>
            <a:picLocks noChangeAspect="1"/>
          </p:cNvPicPr>
          <p:nvPr/>
        </p:nvPicPr>
        <p:blipFill>
          <a:blip r:embed="rId3"/>
          <a:srcRect l="17644" r="17644"/>
          <a:stretch>
            <a:fillRect/>
          </a:stretch>
        </p:blipFill>
        <p:spPr>
          <a:xfrm>
            <a:off x="9189720" y="1325880"/>
            <a:ext cx="2377440" cy="2066543"/>
          </a:xfrm>
          <a:prstGeom prst="rect">
            <a:avLst/>
          </a:prstGeom>
        </p:spPr>
      </p:pic>
      <p:pic>
        <p:nvPicPr>
          <p:cNvPr id="29" name="Picture 28" descr="coding-01.jpg"/>
          <p:cNvPicPr>
            <a:picLocks noChangeAspect="1"/>
          </p:cNvPicPr>
          <p:nvPr/>
        </p:nvPicPr>
        <p:blipFill>
          <a:blip r:embed="rId4"/>
          <a:srcRect l="21469" r="21469"/>
          <a:stretch>
            <a:fillRect/>
          </a:stretch>
        </p:blipFill>
        <p:spPr>
          <a:xfrm>
            <a:off x="6903720" y="3547872"/>
            <a:ext cx="2148840" cy="2121408"/>
          </a:xfrm>
          <a:prstGeom prst="rect">
            <a:avLst/>
          </a:prstGeom>
        </p:spPr>
      </p:pic>
      <p:pic>
        <p:nvPicPr>
          <p:cNvPr id="30" name="Picture 29" descr="mahambo_arduino-01.jpg"/>
          <p:cNvPicPr>
            <a:picLocks noChangeAspect="1"/>
          </p:cNvPicPr>
          <p:nvPr/>
        </p:nvPicPr>
        <p:blipFill>
          <a:blip r:embed="rId5"/>
          <a:srcRect l="24784" r="24784"/>
          <a:stretch>
            <a:fillRect/>
          </a:stretch>
        </p:blipFill>
        <p:spPr>
          <a:xfrm>
            <a:off x="9189720" y="3547872"/>
            <a:ext cx="2377440" cy="2121408"/>
          </a:xfrm>
          <a:prstGeom prst="rect">
            <a:avLst/>
          </a:prstGeom>
        </p:spPr>
      </p:pic>
      <p:sp>
        <p:nvSpPr>
          <p:cNvPr id="31" name="Rounded Rectangle 30"/>
          <p:cNvSpPr/>
          <p:nvPr/>
        </p:nvSpPr>
        <p:spPr>
          <a:xfrm>
            <a:off x="6903720" y="5742432"/>
            <a:ext cx="4663440" cy="502920"/>
          </a:xfrm>
          <a:prstGeom prst="roundRect">
            <a:avLst/>
          </a:prstGeom>
          <a:solidFill>
            <a:srgbClr val="102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68896" y="5897880"/>
            <a:ext cx="4133087" cy="182880"/>
          </a:xfrm>
          <a:prstGeom prst="rect">
            <a:avLst/>
          </a:prstGeom>
          <a:noFill/>
        </p:spPr>
        <p:txBody>
          <a:bodyPr wrap="square" lIns="0" rIns="0" tIns="0" bIns="0" anchor="t">
            <a:spAutoFit/>
          </a:bodyPr>
          <a:lstStyle/>
          <a:p>
            <a:pPr algn="ctr">
              <a:lnSpc>
                <a:spcPct val="100000"/>
              </a:lnSpc>
            </a:pPr>
            <a:r>
              <a:rPr sz="1100" b="1" i="0">
                <a:solidFill>
                  <a:srgbClr val="F0CC7A"/>
                </a:solidFill>
                <a:latin typeface="Aptos Display"/>
              </a:rPr>
              <a:t>TEACH.  EQUIP.  EMPOWER.</a:t>
            </a:r>
          </a:p>
        </p:txBody>
      </p:sp>
      <p:sp>
        <p:nvSpPr>
          <p:cNvPr id="33" name="TextBox 32"/>
          <p:cNvSpPr txBox="1"/>
          <p:nvPr/>
        </p:nvSpPr>
        <p:spPr>
          <a:xfrm>
            <a:off x="621792" y="6519672"/>
            <a:ext cx="3200400" cy="164592"/>
          </a:xfrm>
          <a:prstGeom prst="rect">
            <a:avLst/>
          </a:prstGeom>
          <a:noFill/>
        </p:spPr>
        <p:txBody>
          <a:bodyPr wrap="square" lIns="0" rIns="0" tIns="0" bIns="0" anchor="t">
            <a:spAutoFit/>
          </a:bodyPr>
          <a:lstStyle/>
          <a:p>
            <a:pPr algn="l">
              <a:lnSpc>
                <a:spcPct val="100000"/>
              </a:lnSpc>
            </a:pPr>
            <a:r>
              <a:rPr sz="750" b="1" i="0">
                <a:solidFill>
                  <a:srgbClr val="627080"/>
                </a:solidFill>
                <a:latin typeface="Aptos"/>
              </a:rPr>
              <a:t>MANIFEST  •  MADAGASCAR</a:t>
            </a:r>
          </a:p>
        </p:txBody>
      </p:sp>
      <p:sp>
        <p:nvSpPr>
          <p:cNvPr id="34" name="TextBox 33"/>
          <p:cNvSpPr txBox="1"/>
          <p:nvPr/>
        </p:nvSpPr>
        <p:spPr>
          <a:xfrm>
            <a:off x="11018520" y="6473952"/>
            <a:ext cx="530352" cy="228600"/>
          </a:xfrm>
          <a:prstGeom prst="rect">
            <a:avLst/>
          </a:prstGeom>
          <a:noFill/>
        </p:spPr>
        <p:txBody>
          <a:bodyPr wrap="square" lIns="0" rIns="0" tIns="0" bIns="0" anchor="t">
            <a:spAutoFit/>
          </a:bodyPr>
          <a:lstStyle/>
          <a:p>
            <a:pPr algn="r">
              <a:lnSpc>
                <a:spcPct val="100000"/>
              </a:lnSpc>
            </a:pPr>
            <a:r>
              <a:rPr sz="800" b="1" i="0">
                <a:solidFill>
                  <a:srgbClr val="627080"/>
                </a:solidFill>
                <a:latin typeface="Aptos"/>
              </a:rPr>
              <a:t>10</a:t>
            </a:r>
          </a:p>
        </p:txBody>
      </p:sp>
      <p:pic>
        <p:nvPicPr>
          <p:cNvPr id="35" name="Picture 34" descr="logo-watermark.png"/>
          <p:cNvPicPr>
            <a:picLocks noChangeAspect="1"/>
          </p:cNvPicPr>
          <p:nvPr/>
        </p:nvPicPr>
        <p:blipFill>
          <a:blip r:embed="rId6"/>
          <a:stretch>
            <a:fillRect/>
          </a:stretch>
        </p:blipFill>
        <p:spPr>
          <a:xfrm>
            <a:off x="11045952" y="128016"/>
            <a:ext cx="530352" cy="51206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vement.jpg"/>
          <p:cNvPicPr>
            <a:picLocks noChangeAspect="1"/>
          </p:cNvPicPr>
          <p:nvPr/>
        </p:nvPicPr>
        <p:blipFill>
          <a:blip r:embed="rId2"/>
          <a:srcRect l="0" r="0"/>
          <a:stretch>
            <a:fillRect/>
          </a:stretch>
        </p:blipFill>
        <p:spPr>
          <a:xfrm>
            <a:off x="0" y="0"/>
            <a:ext cx="12191999" cy="6858000"/>
          </a:xfrm>
          <a:prstGeom prst="rect">
            <a:avLst/>
          </a:prstGeom>
        </p:spPr>
      </p:pic>
      <p:sp>
        <p:nvSpPr>
          <p:cNvPr id="3" name="TextBox 2"/>
          <p:cNvSpPr txBox="1"/>
          <p:nvPr/>
        </p:nvSpPr>
        <p:spPr>
          <a:xfrm>
            <a:off x="621792" y="347472"/>
            <a:ext cx="4480560" cy="201168"/>
          </a:xfrm>
          <a:prstGeom prst="rect">
            <a:avLst/>
          </a:prstGeom>
          <a:noFill/>
        </p:spPr>
        <p:txBody>
          <a:bodyPr wrap="square" lIns="0" rIns="0" tIns="0" bIns="0" anchor="t">
            <a:spAutoFit/>
          </a:bodyPr>
          <a:lstStyle/>
          <a:p>
            <a:pPr algn="l">
              <a:lnSpc>
                <a:spcPct val="100000"/>
              </a:lnSpc>
            </a:pPr>
            <a:r>
              <a:rPr sz="850" b="1" i="0">
                <a:solidFill>
                  <a:srgbClr val="F0CC7A"/>
                </a:solidFill>
                <a:latin typeface="Aptos"/>
              </a:rPr>
              <a:t>TRANSFORMATION MULTIPLIED</a:t>
            </a:r>
          </a:p>
        </p:txBody>
      </p:sp>
      <p:sp>
        <p:nvSpPr>
          <p:cNvPr id="4" name="TextBox 3"/>
          <p:cNvSpPr txBox="1"/>
          <p:nvPr/>
        </p:nvSpPr>
        <p:spPr>
          <a:xfrm>
            <a:off x="621792" y="621792"/>
            <a:ext cx="10881360" cy="530352"/>
          </a:xfrm>
          <a:prstGeom prst="rect">
            <a:avLst/>
          </a:prstGeom>
          <a:noFill/>
        </p:spPr>
        <p:txBody>
          <a:bodyPr wrap="square" lIns="0" rIns="0" tIns="0" bIns="0" anchor="t">
            <a:spAutoFit/>
          </a:bodyPr>
          <a:lstStyle/>
          <a:p>
            <a:pPr algn="l">
              <a:lnSpc>
                <a:spcPct val="100000"/>
              </a:lnSpc>
            </a:pPr>
            <a:r>
              <a:rPr sz="2900" b="1" i="0">
                <a:solidFill>
                  <a:srgbClr val="FFFFFF"/>
                </a:solidFill>
                <a:latin typeface="Aptos Display"/>
              </a:rPr>
              <a:t>A movement of people</a:t>
            </a:r>
          </a:p>
        </p:txBody>
      </p:sp>
      <p:sp>
        <p:nvSpPr>
          <p:cNvPr id="5" name="Rectangle 4"/>
          <p:cNvSpPr/>
          <p:nvPr/>
        </p:nvSpPr>
        <p:spPr>
          <a:xfrm>
            <a:off x="621792" y="1170432"/>
            <a:ext cx="530352" cy="32004"/>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4709160" cy="841248"/>
          </a:xfrm>
          <a:prstGeom prst="rect">
            <a:avLst/>
          </a:prstGeom>
          <a:noFill/>
        </p:spPr>
        <p:txBody>
          <a:bodyPr wrap="square" lIns="0" rIns="0" tIns="0" bIns="0" anchor="t">
            <a:spAutoFit/>
          </a:bodyPr>
          <a:lstStyle/>
          <a:p>
            <a:pPr algn="l">
              <a:lnSpc>
                <a:spcPct val="103000"/>
              </a:lnSpc>
            </a:pPr>
            <a:r>
              <a:rPr sz="1850" b="1" i="0">
                <a:solidFill>
                  <a:srgbClr val="FFFFFF"/>
                </a:solidFill>
                <a:latin typeface="Aptos Display"/>
              </a:rPr>
              <a:t>We dream of seeing transformed people become
channels of transformation.</a:t>
            </a:r>
          </a:p>
        </p:txBody>
      </p:sp>
      <p:sp>
        <p:nvSpPr>
          <p:cNvPr id="7" name="Rounded Rectangle 6"/>
          <p:cNvSpPr/>
          <p:nvPr/>
        </p:nvSpPr>
        <p:spPr>
          <a:xfrm>
            <a:off x="676656" y="2542032"/>
            <a:ext cx="402336" cy="402336"/>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60903"/>
            <a:ext cx="384048" cy="146304"/>
          </a:xfrm>
          <a:prstGeom prst="rect">
            <a:avLst/>
          </a:prstGeom>
          <a:noFill/>
        </p:spPr>
        <p:txBody>
          <a:bodyPr wrap="square" lIns="0" rIns="0" tIns="0" bIns="0" anchor="t">
            <a:spAutoFit/>
          </a:bodyPr>
          <a:lstStyle/>
          <a:p>
            <a:pPr algn="ctr">
              <a:lnSpc>
                <a:spcPct val="100000"/>
              </a:lnSpc>
            </a:pPr>
            <a:r>
              <a:rPr sz="750" b="1" i="0">
                <a:solidFill>
                  <a:srgbClr val="071A2D"/>
                </a:solidFill>
                <a:latin typeface="Aptos"/>
              </a:rPr>
              <a:t>1</a:t>
            </a:r>
          </a:p>
        </p:txBody>
      </p:sp>
      <p:sp>
        <p:nvSpPr>
          <p:cNvPr id="9" name="TextBox 8"/>
          <p:cNvSpPr txBox="1"/>
          <p:nvPr/>
        </p:nvSpPr>
        <p:spPr>
          <a:xfrm>
            <a:off x="1307592" y="2596896"/>
            <a:ext cx="4251960" cy="274320"/>
          </a:xfrm>
          <a:prstGeom prst="rect">
            <a:avLst/>
          </a:prstGeom>
          <a:noFill/>
        </p:spPr>
        <p:txBody>
          <a:bodyPr wrap="square" lIns="0" rIns="0" tIns="0" bIns="0" anchor="t">
            <a:spAutoFit/>
          </a:bodyPr>
          <a:lstStyle/>
          <a:p>
            <a:pPr algn="l">
              <a:lnSpc>
                <a:spcPct val="100000"/>
              </a:lnSpc>
            </a:pPr>
            <a:r>
              <a:rPr sz="1250" b="0" i="0">
                <a:solidFill>
                  <a:srgbClr val="FFFFFF"/>
                </a:solidFill>
                <a:latin typeface="Aptos"/>
              </a:rPr>
              <a:t>A young person who leads.</a:t>
            </a:r>
          </a:p>
        </p:txBody>
      </p:sp>
      <p:sp>
        <p:nvSpPr>
          <p:cNvPr id="10" name="Rounded Rectangle 9"/>
          <p:cNvSpPr/>
          <p:nvPr/>
        </p:nvSpPr>
        <p:spPr>
          <a:xfrm>
            <a:off x="676656" y="3108960"/>
            <a:ext cx="402336" cy="402336"/>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227832"/>
            <a:ext cx="384048" cy="146304"/>
          </a:xfrm>
          <a:prstGeom prst="rect">
            <a:avLst/>
          </a:prstGeom>
          <a:noFill/>
        </p:spPr>
        <p:txBody>
          <a:bodyPr wrap="square" lIns="0" rIns="0" tIns="0" bIns="0" anchor="t">
            <a:spAutoFit/>
          </a:bodyPr>
          <a:lstStyle/>
          <a:p>
            <a:pPr algn="ctr">
              <a:lnSpc>
                <a:spcPct val="100000"/>
              </a:lnSpc>
            </a:pPr>
            <a:r>
              <a:rPr sz="750" b="1" i="0">
                <a:solidFill>
                  <a:srgbClr val="071A2D"/>
                </a:solidFill>
                <a:latin typeface="Aptos"/>
              </a:rPr>
              <a:t>2</a:t>
            </a:r>
          </a:p>
        </p:txBody>
      </p:sp>
      <p:sp>
        <p:nvSpPr>
          <p:cNvPr id="12" name="TextBox 11"/>
          <p:cNvSpPr txBox="1"/>
          <p:nvPr/>
        </p:nvSpPr>
        <p:spPr>
          <a:xfrm>
            <a:off x="1307592" y="3163824"/>
            <a:ext cx="4251960" cy="274320"/>
          </a:xfrm>
          <a:prstGeom prst="rect">
            <a:avLst/>
          </a:prstGeom>
          <a:noFill/>
        </p:spPr>
        <p:txBody>
          <a:bodyPr wrap="square" lIns="0" rIns="0" tIns="0" bIns="0" anchor="t">
            <a:spAutoFit/>
          </a:bodyPr>
          <a:lstStyle/>
          <a:p>
            <a:pPr algn="l">
              <a:lnSpc>
                <a:spcPct val="100000"/>
              </a:lnSpc>
            </a:pPr>
            <a:r>
              <a:rPr sz="1250" b="0" i="0">
                <a:solidFill>
                  <a:srgbClr val="FFFFFF"/>
                </a:solidFill>
                <a:latin typeface="Aptos"/>
              </a:rPr>
              <a:t>A family that strengthens others.</a:t>
            </a:r>
          </a:p>
        </p:txBody>
      </p:sp>
      <p:sp>
        <p:nvSpPr>
          <p:cNvPr id="13" name="Rounded Rectangle 12"/>
          <p:cNvSpPr/>
          <p:nvPr/>
        </p:nvSpPr>
        <p:spPr>
          <a:xfrm>
            <a:off x="676656" y="3675887"/>
            <a:ext cx="402336" cy="402336"/>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794759"/>
            <a:ext cx="384048" cy="146304"/>
          </a:xfrm>
          <a:prstGeom prst="rect">
            <a:avLst/>
          </a:prstGeom>
          <a:noFill/>
        </p:spPr>
        <p:txBody>
          <a:bodyPr wrap="square" lIns="0" rIns="0" tIns="0" bIns="0" anchor="t">
            <a:spAutoFit/>
          </a:bodyPr>
          <a:lstStyle/>
          <a:p>
            <a:pPr algn="ctr">
              <a:lnSpc>
                <a:spcPct val="100000"/>
              </a:lnSpc>
            </a:pPr>
            <a:r>
              <a:rPr sz="750" b="1" i="0">
                <a:solidFill>
                  <a:srgbClr val="071A2D"/>
                </a:solidFill>
                <a:latin typeface="Aptos"/>
              </a:rPr>
              <a:t>3</a:t>
            </a:r>
          </a:p>
        </p:txBody>
      </p:sp>
      <p:sp>
        <p:nvSpPr>
          <p:cNvPr id="15" name="TextBox 14"/>
          <p:cNvSpPr txBox="1"/>
          <p:nvPr/>
        </p:nvSpPr>
        <p:spPr>
          <a:xfrm>
            <a:off x="1307592" y="3730751"/>
            <a:ext cx="4251960" cy="274320"/>
          </a:xfrm>
          <a:prstGeom prst="rect">
            <a:avLst/>
          </a:prstGeom>
          <a:noFill/>
        </p:spPr>
        <p:txBody>
          <a:bodyPr wrap="square" lIns="0" rIns="0" tIns="0" bIns="0" anchor="t">
            <a:spAutoFit/>
          </a:bodyPr>
          <a:lstStyle/>
          <a:p>
            <a:pPr algn="l">
              <a:lnSpc>
                <a:spcPct val="100000"/>
              </a:lnSpc>
            </a:pPr>
            <a:r>
              <a:rPr sz="1250" b="0" i="0">
                <a:solidFill>
                  <a:srgbClr val="FFFFFF"/>
                </a:solidFill>
                <a:latin typeface="Aptos"/>
              </a:rPr>
              <a:t>A skilled person who creates opportunities.</a:t>
            </a:r>
          </a:p>
        </p:txBody>
      </p:sp>
      <p:sp>
        <p:nvSpPr>
          <p:cNvPr id="16" name="Rounded Rectangle 15"/>
          <p:cNvSpPr/>
          <p:nvPr/>
        </p:nvSpPr>
        <p:spPr>
          <a:xfrm>
            <a:off x="676656" y="4242816"/>
            <a:ext cx="402336" cy="402336"/>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361688"/>
            <a:ext cx="384048" cy="146304"/>
          </a:xfrm>
          <a:prstGeom prst="rect">
            <a:avLst/>
          </a:prstGeom>
          <a:noFill/>
        </p:spPr>
        <p:txBody>
          <a:bodyPr wrap="square" lIns="0" rIns="0" tIns="0" bIns="0" anchor="t">
            <a:spAutoFit/>
          </a:bodyPr>
          <a:lstStyle/>
          <a:p>
            <a:pPr algn="ctr">
              <a:lnSpc>
                <a:spcPct val="100000"/>
              </a:lnSpc>
            </a:pPr>
            <a:r>
              <a:rPr sz="750" b="1" i="0">
                <a:solidFill>
                  <a:srgbClr val="071A2D"/>
                </a:solidFill>
                <a:latin typeface="Aptos"/>
              </a:rPr>
              <a:t>4</a:t>
            </a:r>
          </a:p>
        </p:txBody>
      </p:sp>
      <p:sp>
        <p:nvSpPr>
          <p:cNvPr id="18" name="TextBox 17"/>
          <p:cNvSpPr txBox="1"/>
          <p:nvPr/>
        </p:nvSpPr>
        <p:spPr>
          <a:xfrm>
            <a:off x="1307592" y="4297679"/>
            <a:ext cx="4251960" cy="274320"/>
          </a:xfrm>
          <a:prstGeom prst="rect">
            <a:avLst/>
          </a:prstGeom>
          <a:noFill/>
        </p:spPr>
        <p:txBody>
          <a:bodyPr wrap="square" lIns="0" rIns="0" tIns="0" bIns="0" anchor="t">
            <a:spAutoFit/>
          </a:bodyPr>
          <a:lstStyle/>
          <a:p>
            <a:pPr algn="l">
              <a:lnSpc>
                <a:spcPct val="100000"/>
              </a:lnSpc>
            </a:pPr>
            <a:r>
              <a:rPr sz="1250" b="0" i="0">
                <a:solidFill>
                  <a:srgbClr val="FFFFFF"/>
                </a:solidFill>
                <a:latin typeface="Aptos"/>
              </a:rPr>
              <a:t>A servant of God who is renewed and equipped.</a:t>
            </a:r>
          </a:p>
        </p:txBody>
      </p:sp>
      <p:sp>
        <p:nvSpPr>
          <p:cNvPr id="19" name="Rounded Rectangle 18"/>
          <p:cNvSpPr/>
          <p:nvPr/>
        </p:nvSpPr>
        <p:spPr>
          <a:xfrm>
            <a:off x="676656" y="4809744"/>
            <a:ext cx="402336" cy="402336"/>
          </a:xfrm>
          <a:prstGeom prst="round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928616"/>
            <a:ext cx="384048" cy="146304"/>
          </a:xfrm>
          <a:prstGeom prst="rect">
            <a:avLst/>
          </a:prstGeom>
          <a:noFill/>
        </p:spPr>
        <p:txBody>
          <a:bodyPr wrap="square" lIns="0" rIns="0" tIns="0" bIns="0" anchor="t">
            <a:spAutoFit/>
          </a:bodyPr>
          <a:lstStyle/>
          <a:p>
            <a:pPr algn="ctr">
              <a:lnSpc>
                <a:spcPct val="100000"/>
              </a:lnSpc>
            </a:pPr>
            <a:r>
              <a:rPr sz="750" b="1" i="0">
                <a:solidFill>
                  <a:srgbClr val="071A2D"/>
                </a:solidFill>
                <a:latin typeface="Aptos"/>
              </a:rPr>
              <a:t>5</a:t>
            </a:r>
          </a:p>
        </p:txBody>
      </p:sp>
      <p:sp>
        <p:nvSpPr>
          <p:cNvPr id="21" name="TextBox 20"/>
          <p:cNvSpPr txBox="1"/>
          <p:nvPr/>
        </p:nvSpPr>
        <p:spPr>
          <a:xfrm>
            <a:off x="1307592" y="4864607"/>
            <a:ext cx="4251960" cy="274320"/>
          </a:xfrm>
          <a:prstGeom prst="rect">
            <a:avLst/>
          </a:prstGeom>
          <a:noFill/>
        </p:spPr>
        <p:txBody>
          <a:bodyPr wrap="square" lIns="0" rIns="0" tIns="0" bIns="0" anchor="t">
            <a:spAutoFit/>
          </a:bodyPr>
          <a:lstStyle/>
          <a:p>
            <a:pPr algn="l">
              <a:lnSpc>
                <a:spcPct val="100000"/>
              </a:lnSpc>
            </a:pPr>
            <a:r>
              <a:rPr sz="1250" b="0" i="0">
                <a:solidFill>
                  <a:srgbClr val="FFFFFF"/>
                </a:solidFill>
                <a:latin typeface="Aptos"/>
              </a:rPr>
              <a:t>A community that becomes a blessing to others.</a:t>
            </a:r>
          </a:p>
        </p:txBody>
      </p:sp>
      <p:sp>
        <p:nvSpPr>
          <p:cNvPr id="22" name="Rounded Rectangle 21"/>
          <p:cNvSpPr/>
          <p:nvPr/>
        </p:nvSpPr>
        <p:spPr>
          <a:xfrm>
            <a:off x="6537960" y="1417320"/>
            <a:ext cx="5010912" cy="4343400"/>
          </a:xfrm>
          <a:prstGeom prst="roundRect">
            <a:avLst/>
          </a:prstGeom>
          <a:solidFill>
            <a:srgbClr val="071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86016" y="1938528"/>
            <a:ext cx="4114800" cy="356616"/>
          </a:xfrm>
          <a:prstGeom prst="rect">
            <a:avLst/>
          </a:prstGeom>
          <a:noFill/>
        </p:spPr>
        <p:txBody>
          <a:bodyPr wrap="square" lIns="0" rIns="0" tIns="0" bIns="0" anchor="t">
            <a:spAutoFit/>
          </a:bodyPr>
          <a:lstStyle/>
          <a:p>
            <a:pPr algn="ctr">
              <a:lnSpc>
                <a:spcPct val="100000"/>
              </a:lnSpc>
            </a:pPr>
            <a:r>
              <a:rPr sz="1500" b="1" i="0">
                <a:solidFill>
                  <a:srgbClr val="F0CC7A"/>
                </a:solidFill>
                <a:latin typeface="Aptos Display"/>
              </a:rPr>
              <a:t>TRANSFORMATION</a:t>
            </a:r>
          </a:p>
        </p:txBody>
      </p:sp>
      <p:sp>
        <p:nvSpPr>
          <p:cNvPr id="24" name="TextBox 23"/>
          <p:cNvSpPr txBox="1"/>
          <p:nvPr/>
        </p:nvSpPr>
        <p:spPr>
          <a:xfrm>
            <a:off x="6986016" y="2478024"/>
            <a:ext cx="4114800" cy="566928"/>
          </a:xfrm>
          <a:prstGeom prst="rect">
            <a:avLst/>
          </a:prstGeom>
          <a:noFill/>
        </p:spPr>
        <p:txBody>
          <a:bodyPr wrap="square" lIns="0" rIns="0" tIns="0" bIns="0" anchor="t">
            <a:spAutoFit/>
          </a:bodyPr>
          <a:lstStyle/>
          <a:p>
            <a:pPr algn="ctr">
              <a:lnSpc>
                <a:spcPct val="100000"/>
              </a:lnSpc>
            </a:pPr>
            <a:r>
              <a:rPr sz="3100" b="1" i="0">
                <a:solidFill>
                  <a:srgbClr val="FFFFFF"/>
                </a:solidFill>
                <a:latin typeface="Aptos Display"/>
              </a:rPr>
              <a:t>RECEIVED</a:t>
            </a:r>
          </a:p>
        </p:txBody>
      </p:sp>
      <p:sp>
        <p:nvSpPr>
          <p:cNvPr id="25" name="TextBox 24"/>
          <p:cNvSpPr txBox="1"/>
          <p:nvPr/>
        </p:nvSpPr>
        <p:spPr>
          <a:xfrm>
            <a:off x="8485632" y="3127248"/>
            <a:ext cx="1097280" cy="502920"/>
          </a:xfrm>
          <a:prstGeom prst="rect">
            <a:avLst/>
          </a:prstGeom>
          <a:noFill/>
        </p:spPr>
        <p:txBody>
          <a:bodyPr wrap="square" lIns="0" rIns="0" tIns="0" bIns="0" anchor="t">
            <a:spAutoFit/>
          </a:bodyPr>
          <a:lstStyle/>
          <a:p>
            <a:pPr algn="ctr">
              <a:lnSpc>
                <a:spcPct val="100000"/>
              </a:lnSpc>
            </a:pPr>
            <a:r>
              <a:rPr sz="2500" b="1" i="0">
                <a:solidFill>
                  <a:srgbClr val="F0CC7A"/>
                </a:solidFill>
                <a:latin typeface="Aptos"/>
              </a:rPr>
              <a:t>↓</a:t>
            </a:r>
          </a:p>
        </p:txBody>
      </p:sp>
      <p:sp>
        <p:nvSpPr>
          <p:cNvPr id="26" name="TextBox 25"/>
          <p:cNvSpPr txBox="1"/>
          <p:nvPr/>
        </p:nvSpPr>
        <p:spPr>
          <a:xfrm>
            <a:off x="6986016" y="3730752"/>
            <a:ext cx="4114800" cy="356616"/>
          </a:xfrm>
          <a:prstGeom prst="rect">
            <a:avLst/>
          </a:prstGeom>
          <a:noFill/>
        </p:spPr>
        <p:txBody>
          <a:bodyPr wrap="square" lIns="0" rIns="0" tIns="0" bIns="0" anchor="t">
            <a:spAutoFit/>
          </a:bodyPr>
          <a:lstStyle/>
          <a:p>
            <a:pPr algn="ctr">
              <a:lnSpc>
                <a:spcPct val="100000"/>
              </a:lnSpc>
            </a:pPr>
            <a:r>
              <a:rPr sz="1500" b="1" i="0">
                <a:solidFill>
                  <a:srgbClr val="F0CC7A"/>
                </a:solidFill>
                <a:latin typeface="Aptos Display"/>
              </a:rPr>
              <a:t>TRANSFORMATION</a:t>
            </a:r>
          </a:p>
        </p:txBody>
      </p:sp>
      <p:sp>
        <p:nvSpPr>
          <p:cNvPr id="27" name="TextBox 26"/>
          <p:cNvSpPr txBox="1"/>
          <p:nvPr/>
        </p:nvSpPr>
        <p:spPr>
          <a:xfrm>
            <a:off x="6986016" y="4279392"/>
            <a:ext cx="4114800" cy="566928"/>
          </a:xfrm>
          <a:prstGeom prst="rect">
            <a:avLst/>
          </a:prstGeom>
          <a:noFill/>
        </p:spPr>
        <p:txBody>
          <a:bodyPr wrap="square" lIns="0" rIns="0" tIns="0" bIns="0" anchor="t">
            <a:spAutoFit/>
          </a:bodyPr>
          <a:lstStyle/>
          <a:p>
            <a:pPr algn="ctr">
              <a:lnSpc>
                <a:spcPct val="100000"/>
              </a:lnSpc>
            </a:pPr>
            <a:r>
              <a:rPr sz="3100" b="1" i="0">
                <a:solidFill>
                  <a:srgbClr val="FFFFFF"/>
                </a:solidFill>
                <a:latin typeface="Aptos Display"/>
              </a:rPr>
              <a:t>MULTIPLIED</a:t>
            </a:r>
          </a:p>
        </p:txBody>
      </p:sp>
      <p:sp>
        <p:nvSpPr>
          <p:cNvPr id="28" name="TextBox 27"/>
          <p:cNvSpPr txBox="1"/>
          <p:nvPr/>
        </p:nvSpPr>
        <p:spPr>
          <a:xfrm>
            <a:off x="6986016" y="5138928"/>
            <a:ext cx="4114800" cy="274320"/>
          </a:xfrm>
          <a:prstGeom prst="rect">
            <a:avLst/>
          </a:prstGeom>
          <a:noFill/>
        </p:spPr>
        <p:txBody>
          <a:bodyPr wrap="square" lIns="0" rIns="0" tIns="0" bIns="0" anchor="t">
            <a:spAutoFit/>
          </a:bodyPr>
          <a:lstStyle/>
          <a:p>
            <a:pPr algn="ctr">
              <a:lnSpc>
                <a:spcPct val="100000"/>
              </a:lnSpc>
            </a:pPr>
            <a:r>
              <a:rPr sz="1300" b="0" i="1">
                <a:solidFill>
                  <a:srgbClr val="F0CC7A"/>
                </a:solidFill>
                <a:latin typeface="Aptos"/>
              </a:rPr>
              <a:t>Teach. Equip. Empower.</a:t>
            </a:r>
          </a:p>
        </p:txBody>
      </p:sp>
      <p:sp>
        <p:nvSpPr>
          <p:cNvPr id="29" name="TextBox 28"/>
          <p:cNvSpPr txBox="1"/>
          <p:nvPr/>
        </p:nvSpPr>
        <p:spPr>
          <a:xfrm>
            <a:off x="658368" y="6053328"/>
            <a:ext cx="10881360" cy="310896"/>
          </a:xfrm>
          <a:prstGeom prst="rect">
            <a:avLst/>
          </a:prstGeom>
          <a:noFill/>
        </p:spPr>
        <p:txBody>
          <a:bodyPr wrap="square" lIns="0" rIns="0" tIns="0" bIns="0" anchor="t">
            <a:spAutoFit/>
          </a:bodyPr>
          <a:lstStyle/>
          <a:p>
            <a:pPr algn="ctr">
              <a:lnSpc>
                <a:spcPct val="100000"/>
              </a:lnSpc>
            </a:pPr>
            <a:r>
              <a:rPr sz="1150" b="0" i="1">
                <a:solidFill>
                  <a:srgbClr val="FFFFFF"/>
                </a:solidFill>
                <a:latin typeface="Aptos"/>
              </a:rPr>
              <a:t>“I have come that they may have life, and have it abundantly.”  — John 10:10</a:t>
            </a:r>
          </a:p>
        </p:txBody>
      </p:sp>
      <p:sp>
        <p:nvSpPr>
          <p:cNvPr id="30" name="TextBox 29"/>
          <p:cNvSpPr txBox="1"/>
          <p:nvPr/>
        </p:nvSpPr>
        <p:spPr>
          <a:xfrm>
            <a:off x="621792" y="6519672"/>
            <a:ext cx="3200400" cy="164592"/>
          </a:xfrm>
          <a:prstGeom prst="rect">
            <a:avLst/>
          </a:prstGeom>
          <a:noFill/>
        </p:spPr>
        <p:txBody>
          <a:bodyPr wrap="square" lIns="0" rIns="0" tIns="0" bIns="0" anchor="t">
            <a:spAutoFit/>
          </a:bodyPr>
          <a:lstStyle/>
          <a:p>
            <a:pPr algn="l">
              <a:lnSpc>
                <a:spcPct val="100000"/>
              </a:lnSpc>
            </a:pPr>
            <a:r>
              <a:rPr sz="750" b="1" i="0">
                <a:solidFill>
                  <a:srgbClr val="F0CC7A"/>
                </a:solidFill>
                <a:latin typeface="Aptos"/>
              </a:rPr>
              <a:t>MANIFEST  •  MADAGASCAR</a:t>
            </a:r>
          </a:p>
        </p:txBody>
      </p:sp>
      <p:sp>
        <p:nvSpPr>
          <p:cNvPr id="31" name="TextBox 30"/>
          <p:cNvSpPr txBox="1"/>
          <p:nvPr/>
        </p:nvSpPr>
        <p:spPr>
          <a:xfrm>
            <a:off x="11018520" y="6473952"/>
            <a:ext cx="530352" cy="228600"/>
          </a:xfrm>
          <a:prstGeom prst="rect">
            <a:avLst/>
          </a:prstGeom>
          <a:noFill/>
        </p:spPr>
        <p:txBody>
          <a:bodyPr wrap="square" lIns="0" rIns="0" tIns="0" bIns="0" anchor="t">
            <a:spAutoFit/>
          </a:bodyPr>
          <a:lstStyle/>
          <a:p>
            <a:pPr algn="r">
              <a:lnSpc>
                <a:spcPct val="100000"/>
              </a:lnSpc>
            </a:pPr>
            <a:r>
              <a:rPr sz="800" b="1" i="0">
                <a:solidFill>
                  <a:srgbClr val="F0CC7A"/>
                </a:solidFill>
                <a:latin typeface="Aptos"/>
              </a:rPr>
              <a:t>11</a:t>
            </a:r>
          </a:p>
        </p:txBody>
      </p:sp>
      <p:pic>
        <p:nvPicPr>
          <p:cNvPr id="32" name="Picture 31" descr="logo-watermark.png"/>
          <p:cNvPicPr>
            <a:picLocks noChangeAspect="1"/>
          </p:cNvPicPr>
          <p:nvPr/>
        </p:nvPicPr>
        <p:blipFill>
          <a:blip r:embed="rId3"/>
          <a:stretch>
            <a:fillRect/>
          </a:stretch>
        </p:blipFill>
        <p:spPr>
          <a:xfrm>
            <a:off x="11045952" y="128016"/>
            <a:ext cx="530352" cy="51206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osing-background.jp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658368" y="457200"/>
            <a:ext cx="4389120" cy="228600"/>
          </a:xfrm>
          <a:prstGeom prst="rect">
            <a:avLst/>
          </a:prstGeom>
          <a:noFill/>
        </p:spPr>
        <p:txBody>
          <a:bodyPr wrap="square" lIns="0" rIns="0" tIns="0" bIns="0" anchor="t">
            <a:spAutoFit/>
          </a:bodyPr>
          <a:lstStyle/>
          <a:p>
            <a:pPr algn="l">
              <a:lnSpc>
                <a:spcPct val="100000"/>
              </a:lnSpc>
            </a:pPr>
            <a:r>
              <a:rPr sz="950" b="1" i="0">
                <a:solidFill>
                  <a:srgbClr val="F0CC7A"/>
                </a:solidFill>
                <a:latin typeface="Aptos"/>
              </a:rPr>
              <a:t>CLOSING  •  WITH GRATITUDE</a:t>
            </a:r>
          </a:p>
        </p:txBody>
      </p:sp>
      <p:sp>
        <p:nvSpPr>
          <p:cNvPr id="4" name="TextBox 3"/>
          <p:cNvSpPr txBox="1"/>
          <p:nvPr/>
        </p:nvSpPr>
        <p:spPr>
          <a:xfrm>
            <a:off x="640080" y="859536"/>
            <a:ext cx="5989320" cy="621792"/>
          </a:xfrm>
          <a:prstGeom prst="rect">
            <a:avLst/>
          </a:prstGeom>
          <a:noFill/>
        </p:spPr>
        <p:txBody>
          <a:bodyPr wrap="square" lIns="0" rIns="0" tIns="0" bIns="0" anchor="t">
            <a:spAutoFit/>
          </a:bodyPr>
          <a:lstStyle/>
          <a:p>
            <a:pPr algn="l">
              <a:lnSpc>
                <a:spcPct val="100000"/>
              </a:lnSpc>
            </a:pPr>
            <a:r>
              <a:rPr sz="3500" b="1" i="0">
                <a:solidFill>
                  <a:srgbClr val="FFFFFF"/>
                </a:solidFill>
                <a:latin typeface="Aptos Display"/>
              </a:rPr>
              <a:t>SOLI DEO GLORIA</a:t>
            </a:r>
          </a:p>
        </p:txBody>
      </p:sp>
      <p:sp>
        <p:nvSpPr>
          <p:cNvPr id="5" name="Rectangle 4"/>
          <p:cNvSpPr/>
          <p:nvPr/>
        </p:nvSpPr>
        <p:spPr>
          <a:xfrm>
            <a:off x="658368" y="1600200"/>
            <a:ext cx="749808" cy="41148"/>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874519"/>
            <a:ext cx="5806440" cy="347472"/>
          </a:xfrm>
          <a:prstGeom prst="rect">
            <a:avLst/>
          </a:prstGeom>
          <a:noFill/>
        </p:spPr>
        <p:txBody>
          <a:bodyPr wrap="square" lIns="0" rIns="0" tIns="0" bIns="0" anchor="t">
            <a:spAutoFit/>
          </a:bodyPr>
          <a:lstStyle/>
          <a:p>
            <a:pPr algn="l">
              <a:lnSpc>
                <a:spcPct val="100000"/>
              </a:lnSpc>
            </a:pPr>
            <a:r>
              <a:rPr sz="1600" b="1" i="0">
                <a:solidFill>
                  <a:srgbClr val="F0CC7A"/>
                </a:solidFill>
                <a:latin typeface="Aptos Display"/>
              </a:rPr>
              <a:t>TO GOD ALONE BE THE GLORY</a:t>
            </a:r>
          </a:p>
        </p:txBody>
      </p:sp>
      <p:sp>
        <p:nvSpPr>
          <p:cNvPr id="7" name="TextBox 6"/>
          <p:cNvSpPr txBox="1"/>
          <p:nvPr/>
        </p:nvSpPr>
        <p:spPr>
          <a:xfrm>
            <a:off x="658368" y="2505456"/>
            <a:ext cx="5760720" cy="530352"/>
          </a:xfrm>
          <a:prstGeom prst="rect">
            <a:avLst/>
          </a:prstGeom>
          <a:noFill/>
        </p:spPr>
        <p:txBody>
          <a:bodyPr wrap="square" lIns="0" rIns="0" tIns="0" bIns="0" anchor="t">
            <a:spAutoFit/>
          </a:bodyPr>
          <a:lstStyle/>
          <a:p>
            <a:pPr algn="l">
              <a:lnSpc>
                <a:spcPct val="100000"/>
              </a:lnSpc>
            </a:pPr>
            <a:r>
              <a:rPr sz="2100" b="1" i="0">
                <a:solidFill>
                  <a:srgbClr val="FFFFFF"/>
                </a:solidFill>
                <a:latin typeface="Aptos Display"/>
              </a:rPr>
              <a:t>This is not our story. It is His story.</a:t>
            </a:r>
          </a:p>
        </p:txBody>
      </p:sp>
      <p:sp>
        <p:nvSpPr>
          <p:cNvPr id="8" name="TextBox 7"/>
          <p:cNvSpPr txBox="1"/>
          <p:nvPr/>
        </p:nvSpPr>
        <p:spPr>
          <a:xfrm>
            <a:off x="658368" y="3300984"/>
            <a:ext cx="5669280" cy="841248"/>
          </a:xfrm>
          <a:prstGeom prst="rect">
            <a:avLst/>
          </a:prstGeom>
          <a:noFill/>
        </p:spPr>
        <p:txBody>
          <a:bodyPr wrap="square" lIns="0" rIns="0" tIns="0" bIns="0" anchor="t">
            <a:spAutoFit/>
          </a:bodyPr>
          <a:lstStyle/>
          <a:p>
            <a:pPr algn="l">
              <a:lnSpc>
                <a:spcPct val="110000"/>
              </a:lnSpc>
            </a:pPr>
            <a:r>
              <a:rPr sz="1600" b="0" i="0">
                <a:solidFill>
                  <a:srgbClr val="D8E1E9"/>
                </a:solidFill>
                <a:latin typeface="Aptos"/>
              </a:rPr>
              <a:t>We plant. We water. We serve. We pray.
But God gives the growth.</a:t>
            </a:r>
          </a:p>
        </p:txBody>
      </p:sp>
      <p:sp>
        <p:nvSpPr>
          <p:cNvPr id="9" name="Rectangle 8"/>
          <p:cNvSpPr/>
          <p:nvPr/>
        </p:nvSpPr>
        <p:spPr>
          <a:xfrm>
            <a:off x="658368" y="4526280"/>
            <a:ext cx="493776" cy="41148"/>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828032"/>
            <a:ext cx="5669280" cy="402336"/>
          </a:xfrm>
          <a:prstGeom prst="rect">
            <a:avLst/>
          </a:prstGeom>
          <a:noFill/>
        </p:spPr>
        <p:txBody>
          <a:bodyPr wrap="square" lIns="0" rIns="0" tIns="0" bIns="0" anchor="t">
            <a:spAutoFit/>
          </a:bodyPr>
          <a:lstStyle/>
          <a:p>
            <a:pPr algn="l">
              <a:lnSpc>
                <a:spcPct val="100000"/>
              </a:lnSpc>
            </a:pPr>
            <a:r>
              <a:rPr sz="1800" b="1" i="0">
                <a:solidFill>
                  <a:srgbClr val="FFFFFF"/>
                </a:solidFill>
                <a:latin typeface="Aptos Display"/>
              </a:rPr>
              <a:t>All glory belongs to God.</a:t>
            </a:r>
          </a:p>
        </p:txBody>
      </p:sp>
      <p:sp>
        <p:nvSpPr>
          <p:cNvPr id="11" name="Rounded Rectangle 10"/>
          <p:cNvSpPr/>
          <p:nvPr/>
        </p:nvSpPr>
        <p:spPr>
          <a:xfrm>
            <a:off x="6876288" y="914400"/>
            <a:ext cx="4681728" cy="5138928"/>
          </a:xfrm>
          <a:prstGeom prst="roundRect">
            <a:avLst/>
          </a:prstGeom>
          <a:solidFill>
            <a:srgbClr val="071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967728" y="822960"/>
            <a:ext cx="4590288" cy="5138928"/>
          </a:xfrm>
          <a:prstGeom prst="roundRect">
            <a:avLst/>
          </a:prstGeom>
          <a:solidFill>
            <a:srgbClr val="F7F4EE"/>
          </a:solidFill>
          <a:ln w="15240">
            <a:solidFill>
              <a:srgbClr val="D7A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823960" y="1188720"/>
            <a:ext cx="868680" cy="868680"/>
          </a:xfrm>
          <a:prstGeom prst="ellipse">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3960" y="1307592"/>
            <a:ext cx="868680" cy="411480"/>
          </a:xfrm>
          <a:prstGeom prst="rect">
            <a:avLst/>
          </a:prstGeom>
          <a:noFill/>
        </p:spPr>
        <p:txBody>
          <a:bodyPr wrap="square" lIns="0" rIns="0" tIns="0" bIns="0" anchor="ctr">
            <a:spAutoFit/>
          </a:bodyPr>
          <a:lstStyle/>
          <a:p>
            <a:pPr algn="ctr">
              <a:lnSpc>
                <a:spcPct val="100000"/>
              </a:lnSpc>
            </a:pPr>
            <a:r>
              <a:rPr sz="2800" b="1" i="0">
                <a:solidFill>
                  <a:srgbClr val="FFFFFF"/>
                </a:solidFill>
                <a:latin typeface="Aptos"/>
              </a:rPr>
              <a:t>♥</a:t>
            </a:r>
          </a:p>
        </p:txBody>
      </p:sp>
      <p:sp>
        <p:nvSpPr>
          <p:cNvPr id="15" name="TextBox 14"/>
          <p:cNvSpPr txBox="1"/>
          <p:nvPr/>
        </p:nvSpPr>
        <p:spPr>
          <a:xfrm>
            <a:off x="7333488" y="2331720"/>
            <a:ext cx="3858768" cy="484632"/>
          </a:xfrm>
          <a:prstGeom prst="rect">
            <a:avLst/>
          </a:prstGeom>
          <a:noFill/>
        </p:spPr>
        <p:txBody>
          <a:bodyPr wrap="square" lIns="0" rIns="0" tIns="0" bIns="0" anchor="t">
            <a:spAutoFit/>
          </a:bodyPr>
          <a:lstStyle/>
          <a:p>
            <a:pPr algn="ctr">
              <a:lnSpc>
                <a:spcPct val="100000"/>
              </a:lnSpc>
            </a:pPr>
            <a:r>
              <a:rPr sz="2800" b="1" i="0">
                <a:solidFill>
                  <a:srgbClr val="102D4D"/>
                </a:solidFill>
                <a:latin typeface="Aptos Display"/>
              </a:rPr>
              <a:t>THANK YOU</a:t>
            </a:r>
          </a:p>
        </p:txBody>
      </p:sp>
      <p:sp>
        <p:nvSpPr>
          <p:cNvPr id="16" name="TextBox 15"/>
          <p:cNvSpPr txBox="1"/>
          <p:nvPr/>
        </p:nvSpPr>
        <p:spPr>
          <a:xfrm>
            <a:off x="7333488" y="2880360"/>
            <a:ext cx="3858768" cy="310896"/>
          </a:xfrm>
          <a:prstGeom prst="rect">
            <a:avLst/>
          </a:prstGeom>
          <a:noFill/>
        </p:spPr>
        <p:txBody>
          <a:bodyPr wrap="square" lIns="0" rIns="0" tIns="0" bIns="0" anchor="t">
            <a:spAutoFit/>
          </a:bodyPr>
          <a:lstStyle/>
          <a:p>
            <a:pPr algn="ctr">
              <a:lnSpc>
                <a:spcPct val="100000"/>
              </a:lnSpc>
            </a:pPr>
            <a:r>
              <a:rPr sz="1400" b="1" i="0">
                <a:solidFill>
                  <a:srgbClr val="D7A13A"/>
                </a:solidFill>
                <a:latin typeface="Aptos Display"/>
              </a:rPr>
              <a:t>FOR LISTENING</a:t>
            </a:r>
          </a:p>
        </p:txBody>
      </p:sp>
      <p:sp>
        <p:nvSpPr>
          <p:cNvPr id="17" name="TextBox 16"/>
          <p:cNvSpPr txBox="1"/>
          <p:nvPr/>
        </p:nvSpPr>
        <p:spPr>
          <a:xfrm>
            <a:off x="7406640" y="3429000"/>
            <a:ext cx="3712463" cy="676656"/>
          </a:xfrm>
          <a:prstGeom prst="rect">
            <a:avLst/>
          </a:prstGeom>
          <a:noFill/>
        </p:spPr>
        <p:txBody>
          <a:bodyPr wrap="square" lIns="0" rIns="0" tIns="0" bIns="0" anchor="t">
            <a:spAutoFit/>
          </a:bodyPr>
          <a:lstStyle/>
          <a:p>
            <a:pPr algn="ctr">
              <a:lnSpc>
                <a:spcPct val="110000"/>
              </a:lnSpc>
            </a:pPr>
            <a:r>
              <a:rPr sz="1350" b="0" i="0">
                <a:solidFill>
                  <a:srgbClr val="182431"/>
                </a:solidFill>
                <a:latin typeface="Aptos"/>
              </a:rPr>
              <a:t>Thank you for your time, your prayers,
and your encouragement.</a:t>
            </a:r>
          </a:p>
        </p:txBody>
      </p:sp>
      <p:sp>
        <p:nvSpPr>
          <p:cNvPr id="18" name="Rectangle 17"/>
          <p:cNvSpPr/>
          <p:nvPr/>
        </p:nvSpPr>
        <p:spPr>
          <a:xfrm>
            <a:off x="7900416" y="4315968"/>
            <a:ext cx="2724912" cy="22860"/>
          </a:xfrm>
          <a:prstGeom prst="rect">
            <a:avLst/>
          </a:prstGeom>
          <a:solidFill>
            <a:srgbClr val="D7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33488" y="4590288"/>
            <a:ext cx="3858768" cy="676656"/>
          </a:xfrm>
          <a:prstGeom prst="rect">
            <a:avLst/>
          </a:prstGeom>
          <a:noFill/>
        </p:spPr>
        <p:txBody>
          <a:bodyPr wrap="square" lIns="0" rIns="0" tIns="0" bIns="0" anchor="t">
            <a:spAutoFit/>
          </a:bodyPr>
          <a:lstStyle/>
          <a:p>
            <a:pPr algn="ctr">
              <a:lnSpc>
                <a:spcPct val="105000"/>
              </a:lnSpc>
            </a:pPr>
            <a:r>
              <a:rPr sz="1400" b="1" i="1">
                <a:solidFill>
                  <a:srgbClr val="102D4D"/>
                </a:solidFill>
                <a:latin typeface="Aptos"/>
              </a:rPr>
              <a:t>“Not to us, LORD, not to us,
but to Your name be the glory.”</a:t>
            </a:r>
          </a:p>
        </p:txBody>
      </p:sp>
      <p:sp>
        <p:nvSpPr>
          <p:cNvPr id="20" name="TextBox 19"/>
          <p:cNvSpPr txBox="1"/>
          <p:nvPr/>
        </p:nvSpPr>
        <p:spPr>
          <a:xfrm>
            <a:off x="7333488" y="5376672"/>
            <a:ext cx="3858768" cy="219456"/>
          </a:xfrm>
          <a:prstGeom prst="rect">
            <a:avLst/>
          </a:prstGeom>
          <a:noFill/>
        </p:spPr>
        <p:txBody>
          <a:bodyPr wrap="square" lIns="0" rIns="0" tIns="0" bIns="0" anchor="t">
            <a:spAutoFit/>
          </a:bodyPr>
          <a:lstStyle/>
          <a:p>
            <a:pPr algn="ctr">
              <a:lnSpc>
                <a:spcPct val="100000"/>
              </a:lnSpc>
            </a:pPr>
            <a:r>
              <a:rPr sz="950" b="1" i="0">
                <a:solidFill>
                  <a:srgbClr val="D7A13A"/>
                </a:solidFill>
                <a:latin typeface="Aptos"/>
              </a:rPr>
              <a:t>PSALM 115:1</a:t>
            </a:r>
          </a:p>
        </p:txBody>
      </p:sp>
      <p:sp>
        <p:nvSpPr>
          <p:cNvPr id="21" name="TextBox 20"/>
          <p:cNvSpPr txBox="1"/>
          <p:nvPr/>
        </p:nvSpPr>
        <p:spPr>
          <a:xfrm>
            <a:off x="621792" y="6519672"/>
            <a:ext cx="3200400" cy="164592"/>
          </a:xfrm>
          <a:prstGeom prst="rect">
            <a:avLst/>
          </a:prstGeom>
          <a:noFill/>
        </p:spPr>
        <p:txBody>
          <a:bodyPr wrap="square" lIns="0" rIns="0" tIns="0" bIns="0" anchor="t">
            <a:spAutoFit/>
          </a:bodyPr>
          <a:lstStyle/>
          <a:p>
            <a:pPr algn="l">
              <a:lnSpc>
                <a:spcPct val="100000"/>
              </a:lnSpc>
            </a:pPr>
            <a:r>
              <a:rPr sz="750" b="1" i="0">
                <a:solidFill>
                  <a:srgbClr val="F0CC7A"/>
                </a:solidFill>
                <a:latin typeface="Aptos"/>
              </a:rPr>
              <a:t>MANIFEST  •  MADAGASCAR</a:t>
            </a:r>
          </a:p>
        </p:txBody>
      </p:sp>
      <p:sp>
        <p:nvSpPr>
          <p:cNvPr id="22" name="TextBox 21"/>
          <p:cNvSpPr txBox="1"/>
          <p:nvPr/>
        </p:nvSpPr>
        <p:spPr>
          <a:xfrm>
            <a:off x="11018520" y="6473952"/>
            <a:ext cx="530352" cy="228600"/>
          </a:xfrm>
          <a:prstGeom prst="rect">
            <a:avLst/>
          </a:prstGeom>
          <a:noFill/>
        </p:spPr>
        <p:txBody>
          <a:bodyPr wrap="square" lIns="0" rIns="0" tIns="0" bIns="0" anchor="t">
            <a:spAutoFit/>
          </a:bodyPr>
          <a:lstStyle/>
          <a:p>
            <a:pPr algn="r">
              <a:lnSpc>
                <a:spcPct val="100000"/>
              </a:lnSpc>
            </a:pPr>
            <a:r>
              <a:rPr sz="800" b="1" i="0">
                <a:solidFill>
                  <a:srgbClr val="F0CC7A"/>
                </a:solidFill>
                <a:latin typeface="Aptos"/>
              </a:rPr>
              <a:t>12</a:t>
            </a:r>
          </a:p>
        </p:txBody>
      </p:sp>
      <p:pic>
        <p:nvPicPr>
          <p:cNvPr id="23" name="Picture 22" descr="image.png"/>
          <p:cNvPicPr>
            <a:picLocks noChangeAspect="1"/>
          </p:cNvPicPr>
          <p:nvPr/>
        </p:nvPicPr>
        <p:blipFill>
          <a:blip r:embed="rId3"/>
          <a:stretch>
            <a:fillRect/>
          </a:stretch>
        </p:blipFill>
        <p:spPr>
          <a:xfrm>
            <a:off x="11045952" y="128016"/>
            <a:ext cx="530352" cy="5120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MANIFEST — Mahambo, Madagascar — Ministry Presentation</dc:title>
  <dc:subject>MANIFEST ministry presentation with locations overview</dc:subject>
  <dc:creator>MANIFEST Organisation Madagascar</dc:creator>
  <cp:keywords>MANIFEST, Madagascar, ministry, education, Gospel, Elysé</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